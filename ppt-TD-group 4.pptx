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72" r:id="rId1"/>
  </p:sldMasterIdLst>
  <p:notesMasterIdLst>
    <p:notesMasterId r:id="rId30"/>
  </p:notesMasterIdLst>
  <p:sldIdLst>
    <p:sldId id="256" r:id="rId2"/>
    <p:sldId id="258" r:id="rId3"/>
    <p:sldId id="260" r:id="rId4"/>
    <p:sldId id="259" r:id="rId5"/>
    <p:sldId id="262" r:id="rId6"/>
    <p:sldId id="263" r:id="rId7"/>
    <p:sldId id="296" r:id="rId8"/>
    <p:sldId id="270" r:id="rId9"/>
    <p:sldId id="264" r:id="rId10"/>
    <p:sldId id="301" r:id="rId11"/>
    <p:sldId id="300" r:id="rId12"/>
    <p:sldId id="299" r:id="rId13"/>
    <p:sldId id="302" r:id="rId14"/>
    <p:sldId id="266" r:id="rId15"/>
    <p:sldId id="305" r:id="rId16"/>
    <p:sldId id="303" r:id="rId17"/>
    <p:sldId id="304" r:id="rId18"/>
    <p:sldId id="297" r:id="rId19"/>
    <p:sldId id="271" r:id="rId20"/>
    <p:sldId id="298" r:id="rId21"/>
    <p:sldId id="276" r:id="rId22"/>
    <p:sldId id="307" r:id="rId23"/>
    <p:sldId id="268" r:id="rId24"/>
    <p:sldId id="309" r:id="rId25"/>
    <p:sldId id="308" r:id="rId26"/>
    <p:sldId id="306" r:id="rId27"/>
    <p:sldId id="310" r:id="rId28"/>
    <p:sldId id="275"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016E2E-41FC-404D-AC2A-DC731C7F9F41}">
  <a:tblStyle styleId="{85016E2E-41FC-404D-AC2A-DC731C7F9F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3572782-82C2-4EFE-98D8-A4109FE5C77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60"/>
  </p:normalViewPr>
  <p:slideViewPr>
    <p:cSldViewPr snapToGrid="0">
      <p:cViewPr>
        <p:scale>
          <a:sx n="82" d="100"/>
          <a:sy n="82" d="100"/>
        </p:scale>
        <p:origin x="8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3ceeb12e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3ceeb12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621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1348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230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241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8824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2983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4813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7469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7282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72b1845856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72b1845856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6560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1074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7197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44174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78936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7109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79850" y="152100"/>
            <a:ext cx="8784300" cy="48531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10;p2"/>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3225" y="539500"/>
            <a:ext cx="4513200" cy="27207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713225" y="3955925"/>
            <a:ext cx="2612100" cy="684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200"/>
              <a:buNone/>
              <a:defRPr sz="1600">
                <a:solidFill>
                  <a:schemeClr val="accent3"/>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3" name="Google Shape;13;p2"/>
          <p:cNvSpPr>
            <a:spLocks noGrp="1"/>
          </p:cNvSpPr>
          <p:nvPr>
            <p:ph type="pic" idx="2"/>
          </p:nvPr>
        </p:nvSpPr>
        <p:spPr>
          <a:xfrm>
            <a:off x="6390400" y="462450"/>
            <a:ext cx="2342400" cy="4218600"/>
          </a:xfrm>
          <a:prstGeom prst="rect">
            <a:avLst/>
          </a:prstGeom>
          <a:noFill/>
          <a:ln>
            <a:noFill/>
          </a:ln>
        </p:spPr>
      </p:sp>
      <p:sp>
        <p:nvSpPr>
          <p:cNvPr id="14" name="Google Shape;14;p2"/>
          <p:cNvSpPr/>
          <p:nvPr/>
        </p:nvSpPr>
        <p:spPr>
          <a:xfrm>
            <a:off x="113189" y="78763"/>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13189" y="4918592"/>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889697" y="78763"/>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889697" y="4918592"/>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a:spLocks noGrp="1"/>
          </p:cNvSpPr>
          <p:nvPr>
            <p:ph type="pic" idx="3"/>
          </p:nvPr>
        </p:nvSpPr>
        <p:spPr>
          <a:xfrm>
            <a:off x="4537600" y="2333225"/>
            <a:ext cx="3799200" cy="2403300"/>
          </a:xfrm>
          <a:prstGeom prst="roundRect">
            <a:avLst>
              <a:gd name="adj" fmla="val 50000"/>
            </a:avLst>
          </a:prstGeom>
          <a:noFill/>
          <a:ln w="9525" cap="flat" cmpd="sng">
            <a:solidFill>
              <a:schemeClr val="accent2"/>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pic>
        <p:nvPicPr>
          <p:cNvPr id="20" name="Google Shape;20;p3"/>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21" name="Google Shape;21;p3"/>
          <p:cNvSpPr/>
          <p:nvPr/>
        </p:nvSpPr>
        <p:spPr>
          <a:xfrm>
            <a:off x="179850" y="152100"/>
            <a:ext cx="8784300" cy="48531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title"/>
          </p:nvPr>
        </p:nvSpPr>
        <p:spPr>
          <a:xfrm>
            <a:off x="4495475" y="3462325"/>
            <a:ext cx="3474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4495475" y="2511850"/>
            <a:ext cx="1235700" cy="8418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 name="Google Shape;24;p3"/>
          <p:cNvSpPr>
            <a:spLocks noGrp="1"/>
          </p:cNvSpPr>
          <p:nvPr>
            <p:ph type="pic" idx="3"/>
          </p:nvPr>
        </p:nvSpPr>
        <p:spPr>
          <a:xfrm>
            <a:off x="1727780" y="872250"/>
            <a:ext cx="2154000" cy="3399000"/>
          </a:xfrm>
          <a:prstGeom prst="roundRect">
            <a:avLst>
              <a:gd name="adj" fmla="val 50000"/>
            </a:avLst>
          </a:prstGeom>
          <a:noFill/>
          <a:ln>
            <a:noFill/>
          </a:ln>
        </p:spPr>
      </p:sp>
      <p:sp>
        <p:nvSpPr>
          <p:cNvPr id="25" name="Google Shape;25;p3"/>
          <p:cNvSpPr>
            <a:spLocks noGrp="1"/>
          </p:cNvSpPr>
          <p:nvPr>
            <p:ph type="pic" idx="4"/>
          </p:nvPr>
        </p:nvSpPr>
        <p:spPr>
          <a:xfrm>
            <a:off x="466100" y="462450"/>
            <a:ext cx="2342400" cy="4218600"/>
          </a:xfrm>
          <a:prstGeom prst="rect">
            <a:avLst/>
          </a:prstGeom>
          <a:noFill/>
          <a:ln>
            <a:noFill/>
          </a:ln>
        </p:spPr>
      </p:sp>
      <p:sp>
        <p:nvSpPr>
          <p:cNvPr id="26" name="Google Shape;26;p3"/>
          <p:cNvSpPr/>
          <p:nvPr/>
        </p:nvSpPr>
        <p:spPr>
          <a:xfrm>
            <a:off x="58350" y="30600"/>
            <a:ext cx="243000" cy="2430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58350" y="4883700"/>
            <a:ext cx="243000" cy="2430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8842650" y="30600"/>
            <a:ext cx="243000" cy="2430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842650" y="4883700"/>
            <a:ext cx="243000" cy="2430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pic>
        <p:nvPicPr>
          <p:cNvPr id="31" name="Google Shape;31;p4"/>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32" name="Google Shape;32;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3" name="Google Shape;33;p4"/>
          <p:cNvSpPr txBox="1">
            <a:spLocks noGrp="1"/>
          </p:cNvSpPr>
          <p:nvPr>
            <p:ph type="body" idx="1"/>
          </p:nvPr>
        </p:nvSpPr>
        <p:spPr>
          <a:xfrm>
            <a:off x="720000" y="1085400"/>
            <a:ext cx="7704000" cy="3518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accent2"/>
              </a:buClr>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4" name="Google Shape;34;p4"/>
          <p:cNvGrpSpPr/>
          <p:nvPr/>
        </p:nvGrpSpPr>
        <p:grpSpPr>
          <a:xfrm>
            <a:off x="103650" y="-362975"/>
            <a:ext cx="8936700" cy="5444375"/>
            <a:chOff x="103550" y="-362975"/>
            <a:chExt cx="8936700" cy="5444375"/>
          </a:xfrm>
        </p:grpSpPr>
        <p:sp>
          <p:nvSpPr>
            <p:cNvPr id="35" name="Google Shape;35;p4"/>
            <p:cNvSpPr/>
            <p:nvPr/>
          </p:nvSpPr>
          <p:spPr>
            <a:xfrm>
              <a:off x="179750" y="-362975"/>
              <a:ext cx="8784300" cy="53682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103550" y="48672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8826050" y="48672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pic>
        <p:nvPicPr>
          <p:cNvPr id="61" name="Google Shape;61;p7"/>
          <p:cNvPicPr preferRelativeResize="0"/>
          <p:nvPr/>
        </p:nvPicPr>
        <p:blipFill>
          <a:blip r:embed="rId2">
            <a:alphaModFix amt="50000"/>
          </a:blip>
          <a:stretch>
            <a:fillRect/>
          </a:stretch>
        </p:blipFill>
        <p:spPr>
          <a:xfrm>
            <a:off x="0" y="0"/>
            <a:ext cx="9144000" cy="5143500"/>
          </a:xfrm>
          <a:prstGeom prst="rect">
            <a:avLst/>
          </a:prstGeom>
          <a:noFill/>
          <a:ln>
            <a:noFill/>
          </a:ln>
        </p:spPr>
      </p:pic>
      <p:cxnSp>
        <p:nvCxnSpPr>
          <p:cNvPr id="62" name="Google Shape;62;p7"/>
          <p:cNvCxnSpPr/>
          <p:nvPr/>
        </p:nvCxnSpPr>
        <p:spPr>
          <a:xfrm>
            <a:off x="0" y="304175"/>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63" name="Google Shape;63;p7"/>
          <p:cNvCxnSpPr/>
          <p:nvPr/>
        </p:nvCxnSpPr>
        <p:spPr>
          <a:xfrm>
            <a:off x="0" y="4832400"/>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64" name="Google Shape;64;p7"/>
          <p:cNvCxnSpPr/>
          <p:nvPr/>
        </p:nvCxnSpPr>
        <p:spPr>
          <a:xfrm>
            <a:off x="344513" y="-55350"/>
            <a:ext cx="0" cy="5254200"/>
          </a:xfrm>
          <a:prstGeom prst="straightConnector1">
            <a:avLst/>
          </a:prstGeom>
          <a:noFill/>
          <a:ln w="9525" cap="flat" cmpd="sng">
            <a:solidFill>
              <a:schemeClr val="accent3"/>
            </a:solidFill>
            <a:prstDash val="solid"/>
            <a:round/>
            <a:headEnd type="none" w="med" len="med"/>
            <a:tailEnd type="none" w="med" len="med"/>
          </a:ln>
        </p:spPr>
      </p:cxnSp>
      <p:cxnSp>
        <p:nvCxnSpPr>
          <p:cNvPr id="65" name="Google Shape;65;p7"/>
          <p:cNvCxnSpPr/>
          <p:nvPr/>
        </p:nvCxnSpPr>
        <p:spPr>
          <a:xfrm>
            <a:off x="8799488" y="-55350"/>
            <a:ext cx="0" cy="5254200"/>
          </a:xfrm>
          <a:prstGeom prst="straightConnector1">
            <a:avLst/>
          </a:prstGeom>
          <a:noFill/>
          <a:ln w="9525" cap="flat" cmpd="sng">
            <a:solidFill>
              <a:schemeClr val="accent3"/>
            </a:solidFill>
            <a:prstDash val="solid"/>
            <a:round/>
            <a:headEnd type="none" w="med" len="med"/>
            <a:tailEnd type="none" w="med" len="med"/>
          </a:ln>
        </p:spPr>
      </p:cxnSp>
      <p:sp>
        <p:nvSpPr>
          <p:cNvPr id="66" name="Google Shape;66;p7"/>
          <p:cNvSpPr txBox="1">
            <a:spLocks noGrp="1"/>
          </p:cNvSpPr>
          <p:nvPr>
            <p:ph type="title"/>
          </p:nvPr>
        </p:nvSpPr>
        <p:spPr>
          <a:xfrm>
            <a:off x="713225" y="115077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7" name="Google Shape;67;p7"/>
          <p:cNvSpPr txBox="1">
            <a:spLocks noGrp="1"/>
          </p:cNvSpPr>
          <p:nvPr>
            <p:ph type="subTitle" idx="1"/>
          </p:nvPr>
        </p:nvSpPr>
        <p:spPr>
          <a:xfrm>
            <a:off x="713225" y="1866025"/>
            <a:ext cx="45546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200"/>
              <a:buFont typeface="DM Sans"/>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68" name="Google Shape;68;p7"/>
          <p:cNvSpPr>
            <a:spLocks noGrp="1"/>
          </p:cNvSpPr>
          <p:nvPr>
            <p:ph type="pic" idx="2"/>
          </p:nvPr>
        </p:nvSpPr>
        <p:spPr>
          <a:xfrm>
            <a:off x="5643775" y="462450"/>
            <a:ext cx="2787000" cy="4218600"/>
          </a:xfrm>
          <a:prstGeom prst="rect">
            <a:avLst/>
          </a:prstGeom>
          <a:noFill/>
          <a:ln>
            <a:noFill/>
          </a:ln>
        </p:spPr>
      </p:sp>
      <p:sp>
        <p:nvSpPr>
          <p:cNvPr id="69" name="Google Shape;69;p7"/>
          <p:cNvSpPr/>
          <p:nvPr/>
        </p:nvSpPr>
        <p:spPr>
          <a:xfrm>
            <a:off x="2874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a:off x="87423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2874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87423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87450" y="2511175"/>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8742350" y="2511175"/>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 name="Google Shape;75;p7"/>
          <p:cNvCxnSpPr>
            <a:stCxn id="73" idx="2"/>
            <a:endCxn id="61" idx="1"/>
          </p:cNvCxnSpPr>
          <p:nvPr/>
        </p:nvCxnSpPr>
        <p:spPr>
          <a:xfrm flipH="1">
            <a:off x="50" y="2568325"/>
            <a:ext cx="287400" cy="3300"/>
          </a:xfrm>
          <a:prstGeom prst="straightConnector1">
            <a:avLst/>
          </a:prstGeom>
          <a:noFill/>
          <a:ln w="9525" cap="flat" cmpd="sng">
            <a:solidFill>
              <a:schemeClr val="accent3"/>
            </a:solidFill>
            <a:prstDash val="solid"/>
            <a:round/>
            <a:headEnd type="none" w="med" len="med"/>
            <a:tailEnd type="none" w="med" len="med"/>
          </a:ln>
        </p:spPr>
      </p:cxnSp>
      <p:cxnSp>
        <p:nvCxnSpPr>
          <p:cNvPr id="76" name="Google Shape;76;p7"/>
          <p:cNvCxnSpPr>
            <a:stCxn id="61" idx="3"/>
            <a:endCxn id="74" idx="6"/>
          </p:cNvCxnSpPr>
          <p:nvPr/>
        </p:nvCxnSpPr>
        <p:spPr>
          <a:xfrm rot="10800000">
            <a:off x="8856600" y="2568450"/>
            <a:ext cx="287400" cy="3300"/>
          </a:xfrm>
          <a:prstGeom prst="straightConnector1">
            <a:avLst/>
          </a:prstGeom>
          <a:noFill/>
          <a:ln w="9525" cap="flat" cmpd="sng">
            <a:solidFill>
              <a:schemeClr val="accent3"/>
            </a:solidFill>
            <a:prstDash val="solid"/>
            <a:round/>
            <a:headEnd type="none" w="med" len="med"/>
            <a:tailEnd type="none" w="med" len="med"/>
          </a:ln>
        </p:spPr>
      </p:cxnSp>
      <p:sp>
        <p:nvSpPr>
          <p:cNvPr id="77" name="Google Shape;77;p7"/>
          <p:cNvSpPr>
            <a:spLocks noGrp="1"/>
          </p:cNvSpPr>
          <p:nvPr>
            <p:ph type="pic" idx="3"/>
          </p:nvPr>
        </p:nvSpPr>
        <p:spPr>
          <a:xfrm>
            <a:off x="5888137" y="1422588"/>
            <a:ext cx="2298300" cy="2298300"/>
          </a:xfrm>
          <a:prstGeom prst="ellipse">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
        <p:cNvGrpSpPr/>
        <p:nvPr/>
      </p:nvGrpSpPr>
      <p:grpSpPr>
        <a:xfrm>
          <a:off x="0" y="0"/>
          <a:ext cx="0" cy="0"/>
          <a:chOff x="0" y="0"/>
          <a:chExt cx="0" cy="0"/>
        </a:xfrm>
      </p:grpSpPr>
      <p:sp>
        <p:nvSpPr>
          <p:cNvPr id="79" name="Google Shape;7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2" name="Google Shape;8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5"/>
        <p:cNvGrpSpPr/>
        <p:nvPr/>
      </p:nvGrpSpPr>
      <p:grpSpPr>
        <a:xfrm>
          <a:off x="0" y="0"/>
          <a:ext cx="0" cy="0"/>
          <a:chOff x="0" y="0"/>
          <a:chExt cx="0" cy="0"/>
        </a:xfrm>
      </p:grpSpPr>
      <p:pic>
        <p:nvPicPr>
          <p:cNvPr id="86" name="Google Shape;86;p11"/>
          <p:cNvPicPr preferRelativeResize="0"/>
          <p:nvPr/>
        </p:nvPicPr>
        <p:blipFill>
          <a:blip r:embed="rId2">
            <a:alphaModFix amt="50000"/>
          </a:blip>
          <a:stretch>
            <a:fillRect/>
          </a:stretch>
        </p:blipFill>
        <p:spPr>
          <a:xfrm>
            <a:off x="0" y="0"/>
            <a:ext cx="9144000" cy="5143500"/>
          </a:xfrm>
          <a:prstGeom prst="rect">
            <a:avLst/>
          </a:prstGeom>
          <a:noFill/>
          <a:ln>
            <a:noFill/>
          </a:ln>
        </p:spPr>
      </p:pic>
      <p:cxnSp>
        <p:nvCxnSpPr>
          <p:cNvPr id="87" name="Google Shape;87;p11"/>
          <p:cNvCxnSpPr/>
          <p:nvPr/>
        </p:nvCxnSpPr>
        <p:spPr>
          <a:xfrm>
            <a:off x="0" y="304175"/>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88" name="Google Shape;88;p11"/>
          <p:cNvCxnSpPr/>
          <p:nvPr/>
        </p:nvCxnSpPr>
        <p:spPr>
          <a:xfrm>
            <a:off x="344513" y="-55350"/>
            <a:ext cx="0" cy="5254200"/>
          </a:xfrm>
          <a:prstGeom prst="straightConnector1">
            <a:avLst/>
          </a:prstGeom>
          <a:noFill/>
          <a:ln w="9525" cap="flat" cmpd="sng">
            <a:solidFill>
              <a:schemeClr val="accent3"/>
            </a:solidFill>
            <a:prstDash val="solid"/>
            <a:round/>
            <a:headEnd type="none" w="med" len="med"/>
            <a:tailEnd type="none" w="med" len="med"/>
          </a:ln>
        </p:spPr>
      </p:cxnSp>
      <p:cxnSp>
        <p:nvCxnSpPr>
          <p:cNvPr id="89" name="Google Shape;89;p11"/>
          <p:cNvCxnSpPr/>
          <p:nvPr/>
        </p:nvCxnSpPr>
        <p:spPr>
          <a:xfrm>
            <a:off x="8799488" y="-55350"/>
            <a:ext cx="0" cy="5254200"/>
          </a:xfrm>
          <a:prstGeom prst="straightConnector1">
            <a:avLst/>
          </a:prstGeom>
          <a:noFill/>
          <a:ln w="9525" cap="flat" cmpd="sng">
            <a:solidFill>
              <a:schemeClr val="accent3"/>
            </a:solidFill>
            <a:prstDash val="solid"/>
            <a:round/>
            <a:headEnd type="none" w="med" len="med"/>
            <a:tailEnd type="none" w="med" len="med"/>
          </a:ln>
        </p:spPr>
      </p:cxnSp>
      <p:sp>
        <p:nvSpPr>
          <p:cNvPr id="90" name="Google Shape;90;p11"/>
          <p:cNvSpPr/>
          <p:nvPr/>
        </p:nvSpPr>
        <p:spPr>
          <a:xfrm>
            <a:off x="2874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txBox="1">
            <a:spLocks noGrp="1"/>
          </p:cNvSpPr>
          <p:nvPr>
            <p:ph type="title" hasCustomPrompt="1"/>
          </p:nvPr>
        </p:nvSpPr>
        <p:spPr>
          <a:xfrm>
            <a:off x="2106250" y="636100"/>
            <a:ext cx="4931400" cy="11337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2" name="Google Shape;92;p11"/>
          <p:cNvSpPr txBox="1">
            <a:spLocks noGrp="1"/>
          </p:cNvSpPr>
          <p:nvPr>
            <p:ph type="subTitle" idx="1"/>
          </p:nvPr>
        </p:nvSpPr>
        <p:spPr>
          <a:xfrm>
            <a:off x="2106250" y="1769875"/>
            <a:ext cx="49314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3" name="Google Shape;93;p11"/>
          <p:cNvSpPr>
            <a:spLocks noGrp="1"/>
          </p:cNvSpPr>
          <p:nvPr>
            <p:ph type="pic" idx="2"/>
          </p:nvPr>
        </p:nvSpPr>
        <p:spPr>
          <a:xfrm>
            <a:off x="573805" y="2413000"/>
            <a:ext cx="7909500" cy="4325100"/>
          </a:xfrm>
          <a:prstGeom prst="roundRect">
            <a:avLst>
              <a:gd name="adj" fmla="val 50000"/>
            </a:avLst>
          </a:prstGeom>
          <a:noFill/>
          <a:ln>
            <a:noFill/>
          </a:ln>
        </p:spPr>
      </p:sp>
      <p:sp>
        <p:nvSpPr>
          <p:cNvPr id="94" name="Google Shape;94;p11"/>
          <p:cNvSpPr/>
          <p:nvPr/>
        </p:nvSpPr>
        <p:spPr>
          <a:xfrm>
            <a:off x="87423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6"/>
        <p:cNvGrpSpPr/>
        <p:nvPr/>
      </p:nvGrpSpPr>
      <p:grpSpPr>
        <a:xfrm>
          <a:off x="0" y="0"/>
          <a:ext cx="0" cy="0"/>
          <a:chOff x="0" y="0"/>
          <a:chExt cx="0" cy="0"/>
        </a:xfrm>
      </p:grpSpPr>
      <p:pic>
        <p:nvPicPr>
          <p:cNvPr id="97" name="Google Shape;97;p13"/>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98" name="Google Shape;98;p13"/>
          <p:cNvSpPr txBox="1">
            <a:spLocks noGrp="1"/>
          </p:cNvSpPr>
          <p:nvPr>
            <p:ph type="title"/>
          </p:nvPr>
        </p:nvSpPr>
        <p:spPr>
          <a:xfrm>
            <a:off x="4578775" y="445025"/>
            <a:ext cx="3845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9" name="Google Shape;99;p13"/>
          <p:cNvSpPr txBox="1">
            <a:spLocks noGrp="1"/>
          </p:cNvSpPr>
          <p:nvPr>
            <p:ph type="title" idx="2" hasCustomPrompt="1"/>
          </p:nvPr>
        </p:nvSpPr>
        <p:spPr>
          <a:xfrm>
            <a:off x="4578775" y="1256033"/>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3" hasCustomPrompt="1"/>
          </p:nvPr>
        </p:nvSpPr>
        <p:spPr>
          <a:xfrm>
            <a:off x="4578775" y="2946988"/>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4" hasCustomPrompt="1"/>
          </p:nvPr>
        </p:nvSpPr>
        <p:spPr>
          <a:xfrm>
            <a:off x="4572000" y="1819685"/>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5" hasCustomPrompt="1"/>
          </p:nvPr>
        </p:nvSpPr>
        <p:spPr>
          <a:xfrm>
            <a:off x="4572000" y="3510640"/>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title" idx="6" hasCustomPrompt="1"/>
          </p:nvPr>
        </p:nvSpPr>
        <p:spPr>
          <a:xfrm>
            <a:off x="4572000" y="2383336"/>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7" hasCustomPrompt="1"/>
          </p:nvPr>
        </p:nvSpPr>
        <p:spPr>
          <a:xfrm>
            <a:off x="4572000" y="4074291"/>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subTitle" idx="1"/>
          </p:nvPr>
        </p:nvSpPr>
        <p:spPr>
          <a:xfrm>
            <a:off x="5522625" y="1256025"/>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06" name="Google Shape;106;p13"/>
          <p:cNvSpPr txBox="1">
            <a:spLocks noGrp="1"/>
          </p:cNvSpPr>
          <p:nvPr>
            <p:ph type="subTitle" idx="8"/>
          </p:nvPr>
        </p:nvSpPr>
        <p:spPr>
          <a:xfrm>
            <a:off x="5514100" y="1819690"/>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07" name="Google Shape;107;p13"/>
          <p:cNvSpPr txBox="1">
            <a:spLocks noGrp="1"/>
          </p:cNvSpPr>
          <p:nvPr>
            <p:ph type="subTitle" idx="9"/>
          </p:nvPr>
        </p:nvSpPr>
        <p:spPr>
          <a:xfrm>
            <a:off x="5514100" y="2383355"/>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08" name="Google Shape;108;p13"/>
          <p:cNvSpPr txBox="1">
            <a:spLocks noGrp="1"/>
          </p:cNvSpPr>
          <p:nvPr>
            <p:ph type="subTitle" idx="13"/>
          </p:nvPr>
        </p:nvSpPr>
        <p:spPr>
          <a:xfrm>
            <a:off x="5522625" y="2947020"/>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09" name="Google Shape;109;p13"/>
          <p:cNvSpPr txBox="1">
            <a:spLocks noGrp="1"/>
          </p:cNvSpPr>
          <p:nvPr>
            <p:ph type="subTitle" idx="14"/>
          </p:nvPr>
        </p:nvSpPr>
        <p:spPr>
          <a:xfrm>
            <a:off x="5514100" y="3510685"/>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10" name="Google Shape;110;p13"/>
          <p:cNvSpPr txBox="1">
            <a:spLocks noGrp="1"/>
          </p:cNvSpPr>
          <p:nvPr>
            <p:ph type="subTitle" idx="15"/>
          </p:nvPr>
        </p:nvSpPr>
        <p:spPr>
          <a:xfrm>
            <a:off x="5514100" y="4074350"/>
            <a:ext cx="2901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cxnSp>
        <p:nvCxnSpPr>
          <p:cNvPr id="111" name="Google Shape;111;p13"/>
          <p:cNvCxnSpPr/>
          <p:nvPr/>
        </p:nvCxnSpPr>
        <p:spPr>
          <a:xfrm>
            <a:off x="8799488" y="-55350"/>
            <a:ext cx="0" cy="5254200"/>
          </a:xfrm>
          <a:prstGeom prst="straightConnector1">
            <a:avLst/>
          </a:prstGeom>
          <a:noFill/>
          <a:ln w="9525" cap="flat" cmpd="sng">
            <a:solidFill>
              <a:schemeClr val="accent2"/>
            </a:solidFill>
            <a:prstDash val="solid"/>
            <a:round/>
            <a:headEnd type="none" w="med" len="med"/>
            <a:tailEnd type="none" w="med" len="med"/>
          </a:ln>
        </p:spPr>
      </p:cxnSp>
      <p:sp>
        <p:nvSpPr>
          <p:cNvPr id="112" name="Google Shape;112;p13"/>
          <p:cNvSpPr>
            <a:spLocks noGrp="1"/>
          </p:cNvSpPr>
          <p:nvPr>
            <p:ph type="pic" idx="16"/>
          </p:nvPr>
        </p:nvSpPr>
        <p:spPr>
          <a:xfrm>
            <a:off x="39505" y="420650"/>
            <a:ext cx="4325100" cy="7909500"/>
          </a:xfrm>
          <a:prstGeom prst="roundRect">
            <a:avLst>
              <a:gd name="adj" fmla="val 50000"/>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21"/>
        <p:cNvGrpSpPr/>
        <p:nvPr/>
      </p:nvGrpSpPr>
      <p:grpSpPr>
        <a:xfrm>
          <a:off x="0" y="0"/>
          <a:ext cx="0" cy="0"/>
          <a:chOff x="0" y="0"/>
          <a:chExt cx="0" cy="0"/>
        </a:xfrm>
      </p:grpSpPr>
      <p:pic>
        <p:nvPicPr>
          <p:cNvPr id="122" name="Google Shape;122;p15"/>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123" name="Google Shape;123;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4" name="Google Shape;124;p15"/>
          <p:cNvSpPr txBox="1">
            <a:spLocks noGrp="1"/>
          </p:cNvSpPr>
          <p:nvPr>
            <p:ph type="subTitle" idx="1"/>
          </p:nvPr>
        </p:nvSpPr>
        <p:spPr>
          <a:xfrm>
            <a:off x="713238" y="1699572"/>
            <a:ext cx="77175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5"/>
          <p:cNvSpPr txBox="1">
            <a:spLocks noGrp="1"/>
          </p:cNvSpPr>
          <p:nvPr>
            <p:ph type="subTitle" idx="2"/>
          </p:nvPr>
        </p:nvSpPr>
        <p:spPr>
          <a:xfrm>
            <a:off x="713225" y="2804999"/>
            <a:ext cx="77175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5"/>
          <p:cNvSpPr txBox="1">
            <a:spLocks noGrp="1"/>
          </p:cNvSpPr>
          <p:nvPr>
            <p:ph type="subTitle" idx="3"/>
          </p:nvPr>
        </p:nvSpPr>
        <p:spPr>
          <a:xfrm>
            <a:off x="713236" y="3910425"/>
            <a:ext cx="7717500" cy="54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7" name="Google Shape;127;p15"/>
          <p:cNvSpPr txBox="1">
            <a:spLocks noGrp="1"/>
          </p:cNvSpPr>
          <p:nvPr>
            <p:ph type="subTitle" idx="4"/>
          </p:nvPr>
        </p:nvSpPr>
        <p:spPr>
          <a:xfrm>
            <a:off x="713238" y="1242375"/>
            <a:ext cx="7717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28" name="Google Shape;128;p15"/>
          <p:cNvSpPr txBox="1">
            <a:spLocks noGrp="1"/>
          </p:cNvSpPr>
          <p:nvPr>
            <p:ph type="subTitle" idx="5"/>
          </p:nvPr>
        </p:nvSpPr>
        <p:spPr>
          <a:xfrm>
            <a:off x="713237" y="2347801"/>
            <a:ext cx="7717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29" name="Google Shape;129;p15"/>
          <p:cNvSpPr txBox="1">
            <a:spLocks noGrp="1"/>
          </p:cNvSpPr>
          <p:nvPr>
            <p:ph type="subTitle" idx="6"/>
          </p:nvPr>
        </p:nvSpPr>
        <p:spPr>
          <a:xfrm>
            <a:off x="713237" y="3453228"/>
            <a:ext cx="7717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30" name="Google Shape;130;p15"/>
          <p:cNvSpPr/>
          <p:nvPr/>
        </p:nvSpPr>
        <p:spPr>
          <a:xfrm>
            <a:off x="-794575" y="152100"/>
            <a:ext cx="9758700" cy="53916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8889697" y="78763"/>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32"/>
        <p:cNvGrpSpPr/>
        <p:nvPr/>
      </p:nvGrpSpPr>
      <p:grpSpPr>
        <a:xfrm>
          <a:off x="0" y="0"/>
          <a:ext cx="0" cy="0"/>
          <a:chOff x="0" y="0"/>
          <a:chExt cx="0" cy="0"/>
        </a:xfrm>
      </p:grpSpPr>
      <p:pic>
        <p:nvPicPr>
          <p:cNvPr id="133" name="Google Shape;133;p16"/>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134" name="Google Shape;134;p16"/>
          <p:cNvSpPr/>
          <p:nvPr/>
        </p:nvSpPr>
        <p:spPr>
          <a:xfrm>
            <a:off x="179850" y="152100"/>
            <a:ext cx="8784300" cy="48531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a:off x="113189" y="78763"/>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a:off x="113189" y="4918592"/>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a:off x="8889697" y="78763"/>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6"/>
          <p:cNvSpPr/>
          <p:nvPr/>
        </p:nvSpPr>
        <p:spPr>
          <a:xfrm>
            <a:off x="8889697" y="4918592"/>
            <a:ext cx="144900" cy="14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0" name="Google Shape;140;p16"/>
          <p:cNvSpPr txBox="1">
            <a:spLocks noGrp="1"/>
          </p:cNvSpPr>
          <p:nvPr>
            <p:ph type="subTitle" idx="1"/>
          </p:nvPr>
        </p:nvSpPr>
        <p:spPr>
          <a:xfrm>
            <a:off x="719999" y="1840975"/>
            <a:ext cx="2807100" cy="100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1" name="Google Shape;141;p16"/>
          <p:cNvSpPr txBox="1">
            <a:spLocks noGrp="1"/>
          </p:cNvSpPr>
          <p:nvPr>
            <p:ph type="subTitle" idx="2"/>
          </p:nvPr>
        </p:nvSpPr>
        <p:spPr>
          <a:xfrm>
            <a:off x="5623676" y="1840975"/>
            <a:ext cx="2807100" cy="1005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16"/>
          <p:cNvSpPr txBox="1">
            <a:spLocks noGrp="1"/>
          </p:cNvSpPr>
          <p:nvPr>
            <p:ph type="subTitle" idx="3"/>
          </p:nvPr>
        </p:nvSpPr>
        <p:spPr>
          <a:xfrm>
            <a:off x="719999" y="3438288"/>
            <a:ext cx="2807100" cy="100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16"/>
          <p:cNvSpPr txBox="1">
            <a:spLocks noGrp="1"/>
          </p:cNvSpPr>
          <p:nvPr>
            <p:ph type="subTitle" idx="4"/>
          </p:nvPr>
        </p:nvSpPr>
        <p:spPr>
          <a:xfrm>
            <a:off x="5623676" y="3438288"/>
            <a:ext cx="2807100" cy="1005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16"/>
          <p:cNvSpPr txBox="1">
            <a:spLocks noGrp="1"/>
          </p:cNvSpPr>
          <p:nvPr>
            <p:ph type="subTitle" idx="5"/>
          </p:nvPr>
        </p:nvSpPr>
        <p:spPr>
          <a:xfrm>
            <a:off x="720000" y="1383775"/>
            <a:ext cx="28071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45" name="Google Shape;145;p16"/>
          <p:cNvSpPr txBox="1">
            <a:spLocks noGrp="1"/>
          </p:cNvSpPr>
          <p:nvPr>
            <p:ph type="subTitle" idx="6"/>
          </p:nvPr>
        </p:nvSpPr>
        <p:spPr>
          <a:xfrm>
            <a:off x="720000" y="2981113"/>
            <a:ext cx="28071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46" name="Google Shape;146;p16"/>
          <p:cNvSpPr txBox="1">
            <a:spLocks noGrp="1"/>
          </p:cNvSpPr>
          <p:nvPr>
            <p:ph type="subTitle" idx="7"/>
          </p:nvPr>
        </p:nvSpPr>
        <p:spPr>
          <a:xfrm>
            <a:off x="5623650" y="1383775"/>
            <a:ext cx="2807100" cy="457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47" name="Google Shape;147;p16"/>
          <p:cNvSpPr txBox="1">
            <a:spLocks noGrp="1"/>
          </p:cNvSpPr>
          <p:nvPr>
            <p:ph type="subTitle" idx="8"/>
          </p:nvPr>
        </p:nvSpPr>
        <p:spPr>
          <a:xfrm>
            <a:off x="5623650" y="2981113"/>
            <a:ext cx="2807100" cy="457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48" name="Google Shape;148;p16"/>
          <p:cNvSpPr>
            <a:spLocks noGrp="1"/>
          </p:cNvSpPr>
          <p:nvPr>
            <p:ph type="pic" idx="9"/>
          </p:nvPr>
        </p:nvSpPr>
        <p:spPr>
          <a:xfrm>
            <a:off x="3630825" y="1299898"/>
            <a:ext cx="1889100" cy="4825500"/>
          </a:xfrm>
          <a:prstGeom prst="roundRect">
            <a:avLst>
              <a:gd name="adj" fmla="val 16667"/>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9"/>
        <p:cNvGrpSpPr/>
        <p:nvPr/>
      </p:nvGrpSpPr>
      <p:grpSpPr>
        <a:xfrm>
          <a:off x="0" y="0"/>
          <a:ext cx="0" cy="0"/>
          <a:chOff x="0" y="0"/>
          <a:chExt cx="0" cy="0"/>
        </a:xfrm>
      </p:grpSpPr>
      <p:pic>
        <p:nvPicPr>
          <p:cNvPr id="150" name="Google Shape;150;p17"/>
          <p:cNvPicPr preferRelativeResize="0"/>
          <p:nvPr/>
        </p:nvPicPr>
        <p:blipFill>
          <a:blip r:embed="rId2">
            <a:alphaModFix amt="50000"/>
          </a:blip>
          <a:stretch>
            <a:fillRect/>
          </a:stretch>
        </p:blipFill>
        <p:spPr>
          <a:xfrm>
            <a:off x="0" y="0"/>
            <a:ext cx="9144000" cy="5143500"/>
          </a:xfrm>
          <a:prstGeom prst="rect">
            <a:avLst/>
          </a:prstGeom>
          <a:noFill/>
          <a:ln>
            <a:noFill/>
          </a:ln>
        </p:spPr>
      </p:pic>
      <p:cxnSp>
        <p:nvCxnSpPr>
          <p:cNvPr id="151" name="Google Shape;151;p17"/>
          <p:cNvCxnSpPr/>
          <p:nvPr/>
        </p:nvCxnSpPr>
        <p:spPr>
          <a:xfrm>
            <a:off x="8799488" y="-55350"/>
            <a:ext cx="0" cy="5254200"/>
          </a:xfrm>
          <a:prstGeom prst="straightConnector1">
            <a:avLst/>
          </a:prstGeom>
          <a:noFill/>
          <a:ln w="9525" cap="flat" cmpd="sng">
            <a:solidFill>
              <a:schemeClr val="accent3"/>
            </a:solidFill>
            <a:prstDash val="solid"/>
            <a:round/>
            <a:headEnd type="none" w="med" len="med"/>
            <a:tailEnd type="none" w="med" len="med"/>
          </a:ln>
        </p:spPr>
      </p:cxnSp>
      <p:cxnSp>
        <p:nvCxnSpPr>
          <p:cNvPr id="152" name="Google Shape;152;p17"/>
          <p:cNvCxnSpPr/>
          <p:nvPr/>
        </p:nvCxnSpPr>
        <p:spPr>
          <a:xfrm>
            <a:off x="0" y="304175"/>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153" name="Google Shape;153;p17"/>
          <p:cNvCxnSpPr/>
          <p:nvPr/>
        </p:nvCxnSpPr>
        <p:spPr>
          <a:xfrm>
            <a:off x="0" y="4832400"/>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154" name="Google Shape;154;p17"/>
          <p:cNvCxnSpPr/>
          <p:nvPr/>
        </p:nvCxnSpPr>
        <p:spPr>
          <a:xfrm>
            <a:off x="344513" y="-55350"/>
            <a:ext cx="0" cy="5254200"/>
          </a:xfrm>
          <a:prstGeom prst="straightConnector1">
            <a:avLst/>
          </a:prstGeom>
          <a:noFill/>
          <a:ln w="9525" cap="flat" cmpd="sng">
            <a:solidFill>
              <a:schemeClr val="accent3"/>
            </a:solidFill>
            <a:prstDash val="solid"/>
            <a:round/>
            <a:headEnd type="none" w="med" len="med"/>
            <a:tailEnd type="none" w="med" len="med"/>
          </a:ln>
        </p:spPr>
      </p:cxnSp>
      <p:sp>
        <p:nvSpPr>
          <p:cNvPr id="155" name="Google Shape;155;p17"/>
          <p:cNvSpPr/>
          <p:nvPr/>
        </p:nvSpPr>
        <p:spPr>
          <a:xfrm>
            <a:off x="2874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a:off x="87423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p:nvPr/>
        </p:nvSpPr>
        <p:spPr>
          <a:xfrm>
            <a:off x="2874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7"/>
          <p:cNvSpPr/>
          <p:nvPr/>
        </p:nvSpPr>
        <p:spPr>
          <a:xfrm>
            <a:off x="87423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0" name="Google Shape;160;p17"/>
          <p:cNvSpPr txBox="1">
            <a:spLocks noGrp="1"/>
          </p:cNvSpPr>
          <p:nvPr>
            <p:ph type="subTitle" idx="1"/>
          </p:nvPr>
        </p:nvSpPr>
        <p:spPr>
          <a:xfrm>
            <a:off x="723900" y="1793214"/>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7"/>
          <p:cNvSpPr txBox="1">
            <a:spLocks noGrp="1"/>
          </p:cNvSpPr>
          <p:nvPr>
            <p:ph type="subTitle" idx="2"/>
          </p:nvPr>
        </p:nvSpPr>
        <p:spPr>
          <a:xfrm>
            <a:off x="3279237" y="1793222"/>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2" name="Google Shape;162;p17"/>
          <p:cNvSpPr txBox="1">
            <a:spLocks noGrp="1"/>
          </p:cNvSpPr>
          <p:nvPr>
            <p:ph type="subTitle" idx="3"/>
          </p:nvPr>
        </p:nvSpPr>
        <p:spPr>
          <a:xfrm>
            <a:off x="723900" y="3426350"/>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3" name="Google Shape;163;p17"/>
          <p:cNvSpPr txBox="1">
            <a:spLocks noGrp="1"/>
          </p:cNvSpPr>
          <p:nvPr>
            <p:ph type="subTitle" idx="4"/>
          </p:nvPr>
        </p:nvSpPr>
        <p:spPr>
          <a:xfrm>
            <a:off x="3279239" y="3426350"/>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4" name="Google Shape;164;p17"/>
          <p:cNvSpPr txBox="1">
            <a:spLocks noGrp="1"/>
          </p:cNvSpPr>
          <p:nvPr>
            <p:ph type="subTitle" idx="5"/>
          </p:nvPr>
        </p:nvSpPr>
        <p:spPr>
          <a:xfrm>
            <a:off x="5836796" y="1793222"/>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5" name="Google Shape;165;p17"/>
          <p:cNvSpPr txBox="1">
            <a:spLocks noGrp="1"/>
          </p:cNvSpPr>
          <p:nvPr>
            <p:ph type="subTitle" idx="6"/>
          </p:nvPr>
        </p:nvSpPr>
        <p:spPr>
          <a:xfrm>
            <a:off x="5836799" y="3426350"/>
            <a:ext cx="25854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 name="Google Shape;166;p17"/>
          <p:cNvSpPr txBox="1">
            <a:spLocks noGrp="1"/>
          </p:cNvSpPr>
          <p:nvPr>
            <p:ph type="subTitle" idx="7"/>
          </p:nvPr>
        </p:nvSpPr>
        <p:spPr>
          <a:xfrm>
            <a:off x="723900" y="1336025"/>
            <a:ext cx="2587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67" name="Google Shape;167;p17"/>
          <p:cNvSpPr txBox="1">
            <a:spLocks noGrp="1"/>
          </p:cNvSpPr>
          <p:nvPr>
            <p:ph type="subTitle" idx="8"/>
          </p:nvPr>
        </p:nvSpPr>
        <p:spPr>
          <a:xfrm>
            <a:off x="3278393" y="1336031"/>
            <a:ext cx="2587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68" name="Google Shape;168;p17"/>
          <p:cNvSpPr txBox="1">
            <a:spLocks noGrp="1"/>
          </p:cNvSpPr>
          <p:nvPr>
            <p:ph type="subTitle" idx="9"/>
          </p:nvPr>
        </p:nvSpPr>
        <p:spPr>
          <a:xfrm>
            <a:off x="5836796" y="1336031"/>
            <a:ext cx="2587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69" name="Google Shape;169;p17"/>
          <p:cNvSpPr txBox="1">
            <a:spLocks noGrp="1"/>
          </p:cNvSpPr>
          <p:nvPr>
            <p:ph type="subTitle" idx="13"/>
          </p:nvPr>
        </p:nvSpPr>
        <p:spPr>
          <a:xfrm>
            <a:off x="723900" y="2969150"/>
            <a:ext cx="25854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70" name="Google Shape;170;p17"/>
          <p:cNvSpPr txBox="1">
            <a:spLocks noGrp="1"/>
          </p:cNvSpPr>
          <p:nvPr>
            <p:ph type="subTitle" idx="14"/>
          </p:nvPr>
        </p:nvSpPr>
        <p:spPr>
          <a:xfrm>
            <a:off x="3278393" y="2969150"/>
            <a:ext cx="2587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71" name="Google Shape;171;p17"/>
          <p:cNvSpPr txBox="1">
            <a:spLocks noGrp="1"/>
          </p:cNvSpPr>
          <p:nvPr>
            <p:ph type="subTitle" idx="15"/>
          </p:nvPr>
        </p:nvSpPr>
        <p:spPr>
          <a:xfrm>
            <a:off x="5836796" y="2969150"/>
            <a:ext cx="25872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Della Respira"/>
              <a:buNone/>
              <a:defRPr sz="2000">
                <a:latin typeface="Della Respira"/>
                <a:ea typeface="Della Respira"/>
                <a:cs typeface="Della Respira"/>
                <a:sym typeface="Della Respira"/>
              </a:defRPr>
            </a:lvl1pPr>
            <a:lvl2pPr lvl="1"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2pPr>
            <a:lvl3pPr lvl="2"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3pPr>
            <a:lvl4pPr lvl="3"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4pPr>
            <a:lvl5pPr lvl="4"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5pPr>
            <a:lvl6pPr lvl="5"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6pPr>
            <a:lvl7pPr lvl="6"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7pPr>
            <a:lvl8pPr lvl="7"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8pPr>
            <a:lvl9pPr lvl="8" algn="ctr" rtl="0">
              <a:lnSpc>
                <a:spcPct val="100000"/>
              </a:lnSpc>
              <a:spcBef>
                <a:spcPts val="0"/>
              </a:spcBef>
              <a:spcAft>
                <a:spcPts val="0"/>
              </a:spcAft>
              <a:buSzPts val="2400"/>
              <a:buFont typeface="Della Respira"/>
              <a:buNone/>
              <a:defRPr sz="2400">
                <a:latin typeface="Della Respira"/>
                <a:ea typeface="Della Respira"/>
                <a:cs typeface="Della Respira"/>
                <a:sym typeface="Della Respira"/>
              </a:defRPr>
            </a:lvl9pPr>
          </a:lstStyle>
          <a:p>
            <a:endParaRPr/>
          </a:p>
        </p:txBody>
      </p:sp>
      <p:sp>
        <p:nvSpPr>
          <p:cNvPr id="172" name="Google Shape;172;p17"/>
          <p:cNvSpPr/>
          <p:nvPr/>
        </p:nvSpPr>
        <p:spPr>
          <a:xfrm>
            <a:off x="45149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7"/>
          <p:cNvSpPr/>
          <p:nvPr/>
        </p:nvSpPr>
        <p:spPr>
          <a:xfrm>
            <a:off x="45149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4" name="Google Shape;174;p17"/>
          <p:cNvCxnSpPr>
            <a:stCxn id="172" idx="0"/>
            <a:endCxn id="150" idx="0"/>
          </p:cNvCxnSpPr>
          <p:nvPr/>
        </p:nvCxnSpPr>
        <p:spPr>
          <a:xfrm rot="10800000">
            <a:off x="4572100" y="-100"/>
            <a:ext cx="0" cy="247200"/>
          </a:xfrm>
          <a:prstGeom prst="straightConnector1">
            <a:avLst/>
          </a:prstGeom>
          <a:noFill/>
          <a:ln w="9525" cap="flat" cmpd="sng">
            <a:solidFill>
              <a:schemeClr val="accent3"/>
            </a:solidFill>
            <a:prstDash val="solid"/>
            <a:round/>
            <a:headEnd type="none" w="med" len="med"/>
            <a:tailEnd type="none" w="med" len="med"/>
          </a:ln>
        </p:spPr>
      </p:cxnSp>
      <p:cxnSp>
        <p:nvCxnSpPr>
          <p:cNvPr id="175" name="Google Shape;175;p17"/>
          <p:cNvCxnSpPr>
            <a:stCxn id="173" idx="4"/>
            <a:endCxn id="150" idx="2"/>
          </p:cNvCxnSpPr>
          <p:nvPr/>
        </p:nvCxnSpPr>
        <p:spPr>
          <a:xfrm>
            <a:off x="4572100" y="4889550"/>
            <a:ext cx="0" cy="254100"/>
          </a:xfrm>
          <a:prstGeom prst="straightConnector1">
            <a:avLst/>
          </a:prstGeom>
          <a:noFill/>
          <a:ln w="9525" cap="flat" cmpd="sng">
            <a:solidFill>
              <a:schemeClr val="accent3"/>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76"/>
        <p:cNvGrpSpPr/>
        <p:nvPr/>
      </p:nvGrpSpPr>
      <p:grpSpPr>
        <a:xfrm>
          <a:off x="0" y="0"/>
          <a:ext cx="0" cy="0"/>
          <a:chOff x="0" y="0"/>
          <a:chExt cx="0" cy="0"/>
        </a:xfrm>
      </p:grpSpPr>
      <p:pic>
        <p:nvPicPr>
          <p:cNvPr id="177" name="Google Shape;177;p18"/>
          <p:cNvPicPr preferRelativeResize="0"/>
          <p:nvPr/>
        </p:nvPicPr>
        <p:blipFill>
          <a:blip r:embed="rId2">
            <a:alphaModFix amt="50000"/>
          </a:blip>
          <a:stretch>
            <a:fillRect/>
          </a:stretch>
        </p:blipFill>
        <p:spPr>
          <a:xfrm>
            <a:off x="0" y="0"/>
            <a:ext cx="9144000" cy="5143500"/>
          </a:xfrm>
          <a:prstGeom prst="rect">
            <a:avLst/>
          </a:prstGeom>
          <a:noFill/>
          <a:ln>
            <a:noFill/>
          </a:ln>
        </p:spPr>
      </p:pic>
      <p:grpSp>
        <p:nvGrpSpPr>
          <p:cNvPr id="178" name="Google Shape;178;p18"/>
          <p:cNvGrpSpPr/>
          <p:nvPr/>
        </p:nvGrpSpPr>
        <p:grpSpPr>
          <a:xfrm>
            <a:off x="103650" y="75900"/>
            <a:ext cx="8936700" cy="5005500"/>
            <a:chOff x="103550" y="75900"/>
            <a:chExt cx="8936700" cy="5005500"/>
          </a:xfrm>
        </p:grpSpPr>
        <p:sp>
          <p:nvSpPr>
            <p:cNvPr id="179" name="Google Shape;179;p18"/>
            <p:cNvSpPr/>
            <p:nvPr/>
          </p:nvSpPr>
          <p:spPr>
            <a:xfrm>
              <a:off x="179750" y="152100"/>
              <a:ext cx="8784300" cy="48531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8"/>
            <p:cNvSpPr/>
            <p:nvPr/>
          </p:nvSpPr>
          <p:spPr>
            <a:xfrm>
              <a:off x="103550" y="759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8"/>
            <p:cNvSpPr/>
            <p:nvPr/>
          </p:nvSpPr>
          <p:spPr>
            <a:xfrm>
              <a:off x="8826050" y="759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8"/>
            <p:cNvSpPr/>
            <p:nvPr/>
          </p:nvSpPr>
          <p:spPr>
            <a:xfrm>
              <a:off x="103550" y="48672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8"/>
            <p:cNvSpPr/>
            <p:nvPr/>
          </p:nvSpPr>
          <p:spPr>
            <a:xfrm>
              <a:off x="8826050" y="48672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 name="Google Shape;18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85"/>
        <p:cNvGrpSpPr/>
        <p:nvPr/>
      </p:nvGrpSpPr>
      <p:grpSpPr>
        <a:xfrm>
          <a:off x="0" y="0"/>
          <a:ext cx="0" cy="0"/>
          <a:chOff x="0" y="0"/>
          <a:chExt cx="0" cy="0"/>
        </a:xfrm>
      </p:grpSpPr>
      <p:pic>
        <p:nvPicPr>
          <p:cNvPr id="186" name="Google Shape;186;p19"/>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187" name="Google Shape;18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88" name="Google Shape;188;p19"/>
          <p:cNvCxnSpPr/>
          <p:nvPr/>
        </p:nvCxnSpPr>
        <p:spPr>
          <a:xfrm>
            <a:off x="8799488" y="-55350"/>
            <a:ext cx="0" cy="5254200"/>
          </a:xfrm>
          <a:prstGeom prst="straightConnector1">
            <a:avLst/>
          </a:prstGeom>
          <a:noFill/>
          <a:ln w="9525" cap="flat" cmpd="sng">
            <a:solidFill>
              <a:schemeClr val="accent3"/>
            </a:solidFill>
            <a:prstDash val="solid"/>
            <a:round/>
            <a:headEnd type="none" w="med" len="med"/>
            <a:tailEnd type="none" w="med" len="med"/>
          </a:ln>
        </p:spPr>
      </p:cxnSp>
      <p:cxnSp>
        <p:nvCxnSpPr>
          <p:cNvPr id="189" name="Google Shape;189;p19"/>
          <p:cNvCxnSpPr/>
          <p:nvPr/>
        </p:nvCxnSpPr>
        <p:spPr>
          <a:xfrm>
            <a:off x="0" y="4832400"/>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190" name="Google Shape;190;p19"/>
          <p:cNvCxnSpPr/>
          <p:nvPr/>
        </p:nvCxnSpPr>
        <p:spPr>
          <a:xfrm>
            <a:off x="344513" y="-55350"/>
            <a:ext cx="0" cy="5254200"/>
          </a:xfrm>
          <a:prstGeom prst="straightConnector1">
            <a:avLst/>
          </a:prstGeom>
          <a:noFill/>
          <a:ln w="9525" cap="flat" cmpd="sng">
            <a:solidFill>
              <a:schemeClr val="accent3"/>
            </a:solidFill>
            <a:prstDash val="solid"/>
            <a:round/>
            <a:headEnd type="none" w="med" len="med"/>
            <a:tailEnd type="none" w="med" len="med"/>
          </a:ln>
        </p:spPr>
      </p:cxnSp>
      <p:sp>
        <p:nvSpPr>
          <p:cNvPr id="191" name="Google Shape;191;p19"/>
          <p:cNvSpPr/>
          <p:nvPr/>
        </p:nvSpPr>
        <p:spPr>
          <a:xfrm>
            <a:off x="2874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p:nvPr/>
        </p:nvSpPr>
        <p:spPr>
          <a:xfrm>
            <a:off x="87423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5"/>
        <p:cNvGrpSpPr/>
        <p:nvPr/>
      </p:nvGrpSpPr>
      <p:grpSpPr>
        <a:xfrm>
          <a:off x="0" y="0"/>
          <a:ext cx="0" cy="0"/>
          <a:chOff x="0" y="0"/>
          <a:chExt cx="0" cy="0"/>
        </a:xfrm>
      </p:grpSpPr>
      <p:pic>
        <p:nvPicPr>
          <p:cNvPr id="206" name="Google Shape;206;p21"/>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207" name="Google Shape;207;p21"/>
          <p:cNvSpPr txBox="1">
            <a:spLocks noGrp="1"/>
          </p:cNvSpPr>
          <p:nvPr>
            <p:ph type="title"/>
          </p:nvPr>
        </p:nvSpPr>
        <p:spPr>
          <a:xfrm>
            <a:off x="2347938" y="78275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8" name="Google Shape;208;p21"/>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9" name="Google Shape;209;p21"/>
          <p:cNvSpPr txBox="1"/>
          <p:nvPr/>
        </p:nvSpPr>
        <p:spPr>
          <a:xfrm>
            <a:off x="2370150" y="3698675"/>
            <a:ext cx="4403700" cy="5874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a:solidFill>
                  <a:schemeClr val="lt1"/>
                </a:solidFill>
                <a:latin typeface="DM Sans Medium"/>
                <a:ea typeface="DM Sans Medium"/>
                <a:cs typeface="DM Sans Medium"/>
                <a:sym typeface="DM Sans Medium"/>
              </a:rPr>
              <a:t>CREDITS: This presentation template was created by </a:t>
            </a:r>
            <a:r>
              <a:rPr lang="en" sz="1000" u="sng">
                <a:solidFill>
                  <a:schemeClr val="lt1"/>
                </a:solidFill>
                <a:latin typeface="DM Sans Medium"/>
                <a:ea typeface="DM Sans Medium"/>
                <a:cs typeface="DM Sans Medium"/>
                <a:sym typeface="DM Sans Medium"/>
                <a:hlinkClick r:id="rId3">
                  <a:extLst>
                    <a:ext uri="{A12FA001-AC4F-418D-AE19-62706E023703}">
                      <ahyp:hlinkClr xmlns:ahyp="http://schemas.microsoft.com/office/drawing/2018/hyperlinkcolor" val="tx"/>
                    </a:ext>
                  </a:extLst>
                </a:hlinkClick>
              </a:rPr>
              <a:t>Slidesgo</a:t>
            </a:r>
            <a:r>
              <a:rPr lang="en" sz="1000">
                <a:solidFill>
                  <a:schemeClr val="lt1"/>
                </a:solidFill>
                <a:latin typeface="DM Sans Medium"/>
                <a:ea typeface="DM Sans Medium"/>
                <a:cs typeface="DM Sans Medium"/>
                <a:sym typeface="DM Sans Medium"/>
              </a:rPr>
              <a:t>, and includes icons by </a:t>
            </a:r>
            <a:r>
              <a:rPr lang="en" sz="1000" u="sng">
                <a:solidFill>
                  <a:schemeClr val="lt1"/>
                </a:solidFill>
                <a:latin typeface="DM Sans Medium"/>
                <a:ea typeface="DM Sans Medium"/>
                <a:cs typeface="DM Sans Medium"/>
                <a:sym typeface="DM Sans Medium"/>
                <a:hlinkClick r:id="rId4">
                  <a:extLst>
                    <a:ext uri="{A12FA001-AC4F-418D-AE19-62706E023703}">
                      <ahyp:hlinkClr xmlns:ahyp="http://schemas.microsoft.com/office/drawing/2018/hyperlinkcolor" val="tx"/>
                    </a:ext>
                  </a:extLst>
                </a:hlinkClick>
              </a:rPr>
              <a:t>Flaticon</a:t>
            </a:r>
            <a:r>
              <a:rPr lang="en" sz="1000">
                <a:solidFill>
                  <a:schemeClr val="lt1"/>
                </a:solidFill>
                <a:latin typeface="DM Sans Medium"/>
                <a:ea typeface="DM Sans Medium"/>
                <a:cs typeface="DM Sans Medium"/>
                <a:sym typeface="DM Sans Medium"/>
              </a:rPr>
              <a:t>, and infographics &amp; images by </a:t>
            </a:r>
            <a:r>
              <a:rPr lang="en" sz="1000" u="sng">
                <a:solidFill>
                  <a:schemeClr val="lt1"/>
                </a:solidFill>
                <a:latin typeface="DM Sans Medium"/>
                <a:ea typeface="DM Sans Medium"/>
                <a:cs typeface="DM Sans Medium"/>
                <a:sym typeface="DM Sans Medium"/>
                <a:hlinkClick r:id="rId5">
                  <a:extLst>
                    <a:ext uri="{A12FA001-AC4F-418D-AE19-62706E023703}">
                      <ahyp:hlinkClr xmlns:ahyp="http://schemas.microsoft.com/office/drawing/2018/hyperlinkcolor" val="tx"/>
                    </a:ext>
                  </a:extLst>
                </a:hlinkClick>
              </a:rPr>
              <a:t>Freepik</a:t>
            </a:r>
            <a:r>
              <a:rPr lang="en" sz="1000" u="sng">
                <a:solidFill>
                  <a:schemeClr val="lt1"/>
                </a:solidFill>
                <a:latin typeface="DM Sans Medium"/>
                <a:ea typeface="DM Sans Medium"/>
                <a:cs typeface="DM Sans Medium"/>
                <a:sym typeface="DM Sans Medium"/>
              </a:rPr>
              <a:t> </a:t>
            </a:r>
            <a:endParaRPr sz="1000" u="sng">
              <a:solidFill>
                <a:schemeClr val="lt1"/>
              </a:solidFill>
              <a:latin typeface="DM Sans Medium"/>
              <a:ea typeface="DM Sans Medium"/>
              <a:cs typeface="DM Sans Medium"/>
              <a:sym typeface="DM Sans Medium"/>
            </a:endParaRPr>
          </a:p>
        </p:txBody>
      </p:sp>
      <p:sp>
        <p:nvSpPr>
          <p:cNvPr id="210" name="Google Shape;210;p21"/>
          <p:cNvSpPr>
            <a:spLocks noGrp="1"/>
          </p:cNvSpPr>
          <p:nvPr>
            <p:ph type="pic" idx="2"/>
          </p:nvPr>
        </p:nvSpPr>
        <p:spPr>
          <a:xfrm>
            <a:off x="295725" y="152400"/>
            <a:ext cx="1989900" cy="3636900"/>
          </a:xfrm>
          <a:prstGeom prst="roundRect">
            <a:avLst>
              <a:gd name="adj" fmla="val 50000"/>
            </a:avLst>
          </a:prstGeom>
          <a:noFill/>
          <a:ln>
            <a:noFill/>
          </a:ln>
        </p:spPr>
      </p:sp>
      <p:sp>
        <p:nvSpPr>
          <p:cNvPr id="211" name="Google Shape;211;p21"/>
          <p:cNvSpPr>
            <a:spLocks noGrp="1"/>
          </p:cNvSpPr>
          <p:nvPr>
            <p:ph type="pic" idx="3"/>
          </p:nvPr>
        </p:nvSpPr>
        <p:spPr>
          <a:xfrm>
            <a:off x="6858279" y="1354194"/>
            <a:ext cx="1989900" cy="3636900"/>
          </a:xfrm>
          <a:prstGeom prst="roundRect">
            <a:avLst>
              <a:gd name="adj" fmla="val 50000"/>
            </a:avLst>
          </a:prstGeom>
          <a:noFill/>
          <a:ln>
            <a:noFill/>
          </a:ln>
        </p:spPr>
      </p:sp>
      <p:cxnSp>
        <p:nvCxnSpPr>
          <p:cNvPr id="212" name="Google Shape;212;p21"/>
          <p:cNvCxnSpPr/>
          <p:nvPr/>
        </p:nvCxnSpPr>
        <p:spPr>
          <a:xfrm>
            <a:off x="-341050" y="4604000"/>
            <a:ext cx="9716400" cy="0"/>
          </a:xfrm>
          <a:prstGeom prst="straightConnector1">
            <a:avLst/>
          </a:prstGeom>
          <a:noFill/>
          <a:ln w="9525" cap="flat" cmpd="sng">
            <a:solidFill>
              <a:schemeClr val="accent3"/>
            </a:solidFill>
            <a:prstDash val="solid"/>
            <a:round/>
            <a:headEnd type="none" w="med" len="med"/>
            <a:tailEnd type="none" w="med" len="med"/>
          </a:ln>
        </p:spPr>
      </p:cxnSp>
      <p:cxnSp>
        <p:nvCxnSpPr>
          <p:cNvPr id="213" name="Google Shape;213;p21"/>
          <p:cNvCxnSpPr/>
          <p:nvPr/>
        </p:nvCxnSpPr>
        <p:spPr>
          <a:xfrm>
            <a:off x="-341050" y="542875"/>
            <a:ext cx="9716400" cy="0"/>
          </a:xfrm>
          <a:prstGeom prst="straightConnector1">
            <a:avLst/>
          </a:prstGeom>
          <a:noFill/>
          <a:ln w="9525" cap="flat" cmpd="sng">
            <a:solidFill>
              <a:schemeClr val="accent3"/>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4"/>
        <p:cNvGrpSpPr/>
        <p:nvPr/>
      </p:nvGrpSpPr>
      <p:grpSpPr>
        <a:xfrm>
          <a:off x="0" y="0"/>
          <a:ext cx="0" cy="0"/>
          <a:chOff x="0" y="0"/>
          <a:chExt cx="0" cy="0"/>
        </a:xfrm>
      </p:grpSpPr>
      <p:pic>
        <p:nvPicPr>
          <p:cNvPr id="215" name="Google Shape;215;p22"/>
          <p:cNvPicPr preferRelativeResize="0"/>
          <p:nvPr/>
        </p:nvPicPr>
        <p:blipFill>
          <a:blip r:embed="rId2">
            <a:alphaModFix amt="50000"/>
          </a:blip>
          <a:stretch>
            <a:fillRect/>
          </a:stretch>
        </p:blipFill>
        <p:spPr>
          <a:xfrm>
            <a:off x="0" y="0"/>
            <a:ext cx="9144000" cy="5143500"/>
          </a:xfrm>
          <a:prstGeom prst="rect">
            <a:avLst/>
          </a:prstGeom>
          <a:noFill/>
          <a:ln>
            <a:noFill/>
          </a:ln>
        </p:spPr>
      </p:pic>
      <p:cxnSp>
        <p:nvCxnSpPr>
          <p:cNvPr id="216" name="Google Shape;216;p22"/>
          <p:cNvCxnSpPr/>
          <p:nvPr/>
        </p:nvCxnSpPr>
        <p:spPr>
          <a:xfrm>
            <a:off x="8799488" y="-55350"/>
            <a:ext cx="0" cy="5254200"/>
          </a:xfrm>
          <a:prstGeom prst="straightConnector1">
            <a:avLst/>
          </a:prstGeom>
          <a:noFill/>
          <a:ln w="9525" cap="flat" cmpd="sng">
            <a:solidFill>
              <a:schemeClr val="accent3"/>
            </a:solidFill>
            <a:prstDash val="solid"/>
            <a:round/>
            <a:headEnd type="none" w="med" len="med"/>
            <a:tailEnd type="none" w="med" len="med"/>
          </a:ln>
        </p:spPr>
      </p:cxnSp>
      <p:cxnSp>
        <p:nvCxnSpPr>
          <p:cNvPr id="217" name="Google Shape;217;p22"/>
          <p:cNvCxnSpPr/>
          <p:nvPr/>
        </p:nvCxnSpPr>
        <p:spPr>
          <a:xfrm>
            <a:off x="0" y="304175"/>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218" name="Google Shape;218;p22"/>
          <p:cNvCxnSpPr/>
          <p:nvPr/>
        </p:nvCxnSpPr>
        <p:spPr>
          <a:xfrm>
            <a:off x="0" y="4832400"/>
            <a:ext cx="9144000" cy="0"/>
          </a:xfrm>
          <a:prstGeom prst="straightConnector1">
            <a:avLst/>
          </a:prstGeom>
          <a:noFill/>
          <a:ln w="9525" cap="flat" cmpd="sng">
            <a:solidFill>
              <a:schemeClr val="accent3"/>
            </a:solidFill>
            <a:prstDash val="solid"/>
            <a:round/>
            <a:headEnd type="none" w="med" len="med"/>
            <a:tailEnd type="none" w="med" len="med"/>
          </a:ln>
        </p:spPr>
      </p:cxnSp>
      <p:cxnSp>
        <p:nvCxnSpPr>
          <p:cNvPr id="219" name="Google Shape;219;p22"/>
          <p:cNvCxnSpPr/>
          <p:nvPr/>
        </p:nvCxnSpPr>
        <p:spPr>
          <a:xfrm>
            <a:off x="344513" y="-55350"/>
            <a:ext cx="0" cy="5254200"/>
          </a:xfrm>
          <a:prstGeom prst="straightConnector1">
            <a:avLst/>
          </a:prstGeom>
          <a:noFill/>
          <a:ln w="9525" cap="flat" cmpd="sng">
            <a:solidFill>
              <a:schemeClr val="accent3"/>
            </a:solidFill>
            <a:prstDash val="solid"/>
            <a:round/>
            <a:headEnd type="none" w="med" len="med"/>
            <a:tailEnd type="none" w="med" len="med"/>
          </a:ln>
        </p:spPr>
      </p:cxnSp>
      <p:sp>
        <p:nvSpPr>
          <p:cNvPr id="220" name="Google Shape;220;p22"/>
          <p:cNvSpPr/>
          <p:nvPr/>
        </p:nvSpPr>
        <p:spPr>
          <a:xfrm>
            <a:off x="2874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2"/>
          <p:cNvSpPr/>
          <p:nvPr/>
        </p:nvSpPr>
        <p:spPr>
          <a:xfrm>
            <a:off x="87423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2"/>
          <p:cNvSpPr/>
          <p:nvPr/>
        </p:nvSpPr>
        <p:spPr>
          <a:xfrm>
            <a:off x="2874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2"/>
          <p:cNvSpPr/>
          <p:nvPr/>
        </p:nvSpPr>
        <p:spPr>
          <a:xfrm>
            <a:off x="87423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2"/>
          <p:cNvSpPr/>
          <p:nvPr/>
        </p:nvSpPr>
        <p:spPr>
          <a:xfrm>
            <a:off x="4514950" y="24710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2"/>
          <p:cNvSpPr/>
          <p:nvPr/>
        </p:nvSpPr>
        <p:spPr>
          <a:xfrm>
            <a:off x="4514950" y="47752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6" name="Google Shape;226;p22"/>
          <p:cNvCxnSpPr>
            <a:stCxn id="224" idx="0"/>
            <a:endCxn id="215" idx="0"/>
          </p:cNvCxnSpPr>
          <p:nvPr/>
        </p:nvCxnSpPr>
        <p:spPr>
          <a:xfrm rot="10800000">
            <a:off x="4572100" y="-100"/>
            <a:ext cx="0" cy="247200"/>
          </a:xfrm>
          <a:prstGeom prst="straightConnector1">
            <a:avLst/>
          </a:prstGeom>
          <a:noFill/>
          <a:ln w="9525" cap="flat" cmpd="sng">
            <a:solidFill>
              <a:schemeClr val="accent3"/>
            </a:solidFill>
            <a:prstDash val="solid"/>
            <a:round/>
            <a:headEnd type="none" w="med" len="med"/>
            <a:tailEnd type="none" w="med" len="med"/>
          </a:ln>
        </p:spPr>
      </p:cxnSp>
      <p:cxnSp>
        <p:nvCxnSpPr>
          <p:cNvPr id="227" name="Google Shape;227;p22"/>
          <p:cNvCxnSpPr>
            <a:stCxn id="225" idx="4"/>
            <a:endCxn id="215" idx="2"/>
          </p:cNvCxnSpPr>
          <p:nvPr/>
        </p:nvCxnSpPr>
        <p:spPr>
          <a:xfrm>
            <a:off x="4572100" y="4889550"/>
            <a:ext cx="0" cy="254100"/>
          </a:xfrm>
          <a:prstGeom prst="straightConnector1">
            <a:avLst/>
          </a:prstGeom>
          <a:noFill/>
          <a:ln w="9525" cap="flat" cmpd="sng">
            <a:solidFill>
              <a:schemeClr val="accent3"/>
            </a:solidFill>
            <a:prstDash val="solid"/>
            <a:round/>
            <a:headEnd type="none" w="med" len="med"/>
            <a:tailEnd type="none" w="med" len="med"/>
          </a:ln>
        </p:spPr>
      </p:cxnSp>
      <p:sp>
        <p:nvSpPr>
          <p:cNvPr id="228" name="Google Shape;228;p22"/>
          <p:cNvSpPr/>
          <p:nvPr/>
        </p:nvSpPr>
        <p:spPr>
          <a:xfrm>
            <a:off x="287450" y="2511175"/>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2"/>
          <p:cNvSpPr/>
          <p:nvPr/>
        </p:nvSpPr>
        <p:spPr>
          <a:xfrm>
            <a:off x="8742350" y="2511175"/>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0" name="Google Shape;230;p22"/>
          <p:cNvCxnSpPr>
            <a:stCxn id="228" idx="2"/>
            <a:endCxn id="215" idx="1"/>
          </p:cNvCxnSpPr>
          <p:nvPr/>
        </p:nvCxnSpPr>
        <p:spPr>
          <a:xfrm flipH="1">
            <a:off x="50" y="2568325"/>
            <a:ext cx="287400" cy="3300"/>
          </a:xfrm>
          <a:prstGeom prst="straightConnector1">
            <a:avLst/>
          </a:prstGeom>
          <a:noFill/>
          <a:ln w="9525" cap="flat" cmpd="sng">
            <a:solidFill>
              <a:schemeClr val="accent3"/>
            </a:solidFill>
            <a:prstDash val="solid"/>
            <a:round/>
            <a:headEnd type="none" w="med" len="med"/>
            <a:tailEnd type="none" w="med" len="med"/>
          </a:ln>
        </p:spPr>
      </p:cxnSp>
      <p:cxnSp>
        <p:nvCxnSpPr>
          <p:cNvPr id="231" name="Google Shape;231;p22"/>
          <p:cNvCxnSpPr>
            <a:stCxn id="229" idx="6"/>
            <a:endCxn id="215" idx="3"/>
          </p:cNvCxnSpPr>
          <p:nvPr/>
        </p:nvCxnSpPr>
        <p:spPr>
          <a:xfrm>
            <a:off x="8856650" y="2568325"/>
            <a:ext cx="287400" cy="3300"/>
          </a:xfrm>
          <a:prstGeom prst="straightConnector1">
            <a:avLst/>
          </a:prstGeom>
          <a:noFill/>
          <a:ln w="9525" cap="flat" cmpd="sng">
            <a:solidFill>
              <a:schemeClr val="accent3"/>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32"/>
        <p:cNvGrpSpPr/>
        <p:nvPr/>
      </p:nvGrpSpPr>
      <p:grpSpPr>
        <a:xfrm>
          <a:off x="0" y="0"/>
          <a:ext cx="0" cy="0"/>
          <a:chOff x="0" y="0"/>
          <a:chExt cx="0" cy="0"/>
        </a:xfrm>
      </p:grpSpPr>
      <p:pic>
        <p:nvPicPr>
          <p:cNvPr id="233" name="Google Shape;233;p23"/>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234" name="Google Shape;234;p23"/>
          <p:cNvSpPr/>
          <p:nvPr/>
        </p:nvSpPr>
        <p:spPr>
          <a:xfrm>
            <a:off x="179850" y="152100"/>
            <a:ext cx="8784300" cy="5277300"/>
          </a:xfrm>
          <a:prstGeom prst="plaque">
            <a:avLst>
              <a:gd name="adj" fmla="val 3989"/>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3"/>
          <p:cNvSpPr/>
          <p:nvPr/>
        </p:nvSpPr>
        <p:spPr>
          <a:xfrm>
            <a:off x="103650" y="759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3"/>
          <p:cNvSpPr/>
          <p:nvPr/>
        </p:nvSpPr>
        <p:spPr>
          <a:xfrm>
            <a:off x="8826150" y="75900"/>
            <a:ext cx="214200" cy="214200"/>
          </a:xfrm>
          <a:prstGeom prst="plaqu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000"/>
              <a:buFont typeface="Della Respira"/>
              <a:buNone/>
              <a:defRPr sz="3000">
                <a:solidFill>
                  <a:schemeClr val="lt1"/>
                </a:solidFill>
                <a:latin typeface="Della Respira"/>
                <a:ea typeface="Della Respira"/>
                <a:cs typeface="Della Respira"/>
                <a:sym typeface="Della Respira"/>
              </a:defRPr>
            </a:lvl1pPr>
            <a:lvl2pPr lvl="1"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2pPr>
            <a:lvl3pPr lvl="2"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3pPr>
            <a:lvl4pPr lvl="3"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4pPr>
            <a:lvl5pPr lvl="4"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5pPr>
            <a:lvl6pPr lvl="5"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6pPr>
            <a:lvl7pPr lvl="6"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7pPr>
            <a:lvl8pPr lvl="7"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8pPr>
            <a:lvl9pPr lvl="8" rtl="0">
              <a:spcBef>
                <a:spcPts val="0"/>
              </a:spcBef>
              <a:spcAft>
                <a:spcPts val="0"/>
              </a:spcAft>
              <a:buClr>
                <a:schemeClr val="lt1"/>
              </a:buClr>
              <a:buSzPts val="3000"/>
              <a:buFont typeface="Raleway"/>
              <a:buNone/>
              <a:defRPr sz="3000" b="1">
                <a:solidFill>
                  <a:schemeClr val="lt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1pPr>
            <a:lvl2pPr marL="914400" lvl="1"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2pPr>
            <a:lvl3pPr marL="1371600" lvl="2"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3pPr>
            <a:lvl4pPr marL="1828800" lvl="3"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4pPr>
            <a:lvl5pPr marL="2286000" lvl="4"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5pPr>
            <a:lvl6pPr marL="2743200" lvl="5"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6pPr>
            <a:lvl7pPr marL="3200400" lvl="6"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7pPr>
            <a:lvl8pPr marL="3657600" lvl="7"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8pPr>
            <a:lvl9pPr marL="4114800" lvl="8" indent="-304800">
              <a:lnSpc>
                <a:spcPct val="100000"/>
              </a:lnSpc>
              <a:spcBef>
                <a:spcPts val="0"/>
              </a:spcBef>
              <a:spcAft>
                <a:spcPts val="0"/>
              </a:spcAft>
              <a:buClr>
                <a:schemeClr val="lt1"/>
              </a:buClr>
              <a:buSzPts val="1200"/>
              <a:buFont typeface="DM Sans Medium"/>
              <a:buChar char="■"/>
              <a:defRPr sz="1200">
                <a:solidFill>
                  <a:schemeClr val="lt1"/>
                </a:solidFill>
                <a:latin typeface="DM Sans Medium"/>
                <a:ea typeface="DM Sans Medium"/>
                <a:cs typeface="DM Sans Medium"/>
                <a:sym typeface="DM Sans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2" r:id="rId12"/>
    <p:sldLayoutId id="2147483663" r:id="rId13"/>
    <p:sldLayoutId id="2147483664" r:id="rId14"/>
    <p:sldLayoutId id="2147483665" r:id="rId15"/>
    <p:sldLayoutId id="2147483667" r:id="rId16"/>
    <p:sldLayoutId id="2147483668" r:id="rId17"/>
    <p:sldLayoutId id="2147483669"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27"/>
          <p:cNvPicPr preferRelativeResize="0">
            <a:picLocks noGrp="1"/>
          </p:cNvPicPr>
          <p:nvPr>
            <p:ph type="pic" idx="2"/>
          </p:nvPr>
        </p:nvPicPr>
        <p:blipFill rotWithShape="1">
          <a:blip r:embed="rId3">
            <a:alphaModFix/>
          </a:blip>
          <a:srcRect l="19384" t="1477" r="44096"/>
          <a:stretch/>
        </p:blipFill>
        <p:spPr>
          <a:xfrm>
            <a:off x="6390400" y="462450"/>
            <a:ext cx="2342400" cy="4218600"/>
          </a:xfrm>
          <a:prstGeom prst="rect">
            <a:avLst/>
          </a:prstGeom>
        </p:spPr>
      </p:pic>
      <p:sp>
        <p:nvSpPr>
          <p:cNvPr id="248" name="Google Shape;248;p27"/>
          <p:cNvSpPr txBox="1">
            <a:spLocks noGrp="1"/>
          </p:cNvSpPr>
          <p:nvPr>
            <p:ph type="ctrTitle"/>
          </p:nvPr>
        </p:nvSpPr>
        <p:spPr>
          <a:xfrm>
            <a:off x="713225" y="539500"/>
            <a:ext cx="4513200" cy="272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3"/>
                </a:solidFill>
              </a:rPr>
              <a:t>E-Commerce </a:t>
            </a:r>
            <a:br>
              <a:rPr lang="en-US" dirty="0">
                <a:solidFill>
                  <a:schemeClr val="accent3"/>
                </a:solidFill>
              </a:rPr>
            </a:br>
            <a:r>
              <a:rPr lang="en-US" sz="4800" dirty="0">
                <a:solidFill>
                  <a:schemeClr val="accent3"/>
                </a:solidFill>
              </a:rPr>
              <a:t>Cosmetics Store</a:t>
            </a:r>
            <a:endParaRPr sz="4800" dirty="0">
              <a:solidFill>
                <a:schemeClr val="accent3"/>
              </a:solidFill>
            </a:endParaRPr>
          </a:p>
        </p:txBody>
      </p:sp>
      <p:sp>
        <p:nvSpPr>
          <p:cNvPr id="249" name="Google Shape;249;p27"/>
          <p:cNvSpPr txBox="1">
            <a:spLocks noGrp="1"/>
          </p:cNvSpPr>
          <p:nvPr>
            <p:ph type="subTitle" idx="1"/>
          </p:nvPr>
        </p:nvSpPr>
        <p:spPr>
          <a:xfrm>
            <a:off x="713225" y="3742587"/>
            <a:ext cx="2612100" cy="110535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Project by</a:t>
            </a:r>
          </a:p>
          <a:p>
            <a:pPr marL="0" lvl="0" indent="0" algn="l" rtl="0">
              <a:spcBef>
                <a:spcPts val="0"/>
              </a:spcBef>
              <a:spcAft>
                <a:spcPts val="0"/>
              </a:spcAft>
              <a:buNone/>
            </a:pPr>
            <a:r>
              <a:rPr lang="en-US" sz="1400" dirty="0"/>
              <a:t>- TRILOK DHANEKULA </a:t>
            </a:r>
          </a:p>
          <a:p>
            <a:pPr marL="0" lvl="0" indent="0" algn="l" rtl="0">
              <a:spcBef>
                <a:spcPts val="0"/>
              </a:spcBef>
              <a:spcAft>
                <a:spcPts val="0"/>
              </a:spcAft>
              <a:buNone/>
            </a:pPr>
            <a:r>
              <a:rPr lang="en-US" sz="1400" dirty="0"/>
              <a:t>- DEEKSHITA CHITHAJHALLU</a:t>
            </a:r>
            <a:endParaRPr sz="1400" dirty="0"/>
          </a:p>
        </p:txBody>
      </p:sp>
      <p:sp>
        <p:nvSpPr>
          <p:cNvPr id="250" name="Google Shape;250;p27"/>
          <p:cNvSpPr/>
          <p:nvPr/>
        </p:nvSpPr>
        <p:spPr>
          <a:xfrm>
            <a:off x="4399450" y="2203775"/>
            <a:ext cx="4075200" cy="2662200"/>
          </a:xfrm>
          <a:prstGeom prst="roundRect">
            <a:avLst>
              <a:gd name="adj" fmla="val 50000"/>
            </a:avLst>
          </a:pr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27"/>
          <p:cNvCxnSpPr>
            <a:stCxn id="250" idx="1"/>
          </p:cNvCxnSpPr>
          <p:nvPr/>
        </p:nvCxnSpPr>
        <p:spPr>
          <a:xfrm rot="10800000">
            <a:off x="839950" y="3534875"/>
            <a:ext cx="3559500" cy="0"/>
          </a:xfrm>
          <a:prstGeom prst="straightConnector1">
            <a:avLst/>
          </a:prstGeom>
          <a:noFill/>
          <a:ln w="9525" cap="flat" cmpd="sng">
            <a:solidFill>
              <a:schemeClr val="accent3"/>
            </a:solidFill>
            <a:prstDash val="solid"/>
            <a:round/>
            <a:headEnd type="none" w="med" len="med"/>
            <a:tailEnd type="none" w="med" len="med"/>
          </a:ln>
        </p:spPr>
      </p:cxnSp>
      <p:sp>
        <p:nvSpPr>
          <p:cNvPr id="252" name="Google Shape;252;p27"/>
          <p:cNvSpPr/>
          <p:nvPr/>
        </p:nvSpPr>
        <p:spPr>
          <a:xfrm>
            <a:off x="713225" y="3427775"/>
            <a:ext cx="214200" cy="214200"/>
          </a:xfrm>
          <a:prstGeom prst="plaqu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7"/>
          <p:cNvSpPr/>
          <p:nvPr/>
        </p:nvSpPr>
        <p:spPr>
          <a:xfrm>
            <a:off x="5972563" y="808600"/>
            <a:ext cx="841800" cy="841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7"/>
          <p:cNvSpPr/>
          <p:nvPr/>
        </p:nvSpPr>
        <p:spPr>
          <a:xfrm>
            <a:off x="6156763" y="992800"/>
            <a:ext cx="473400" cy="473400"/>
          </a:xfrm>
          <a:prstGeom prst="plaqu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5" name="Google Shape;255;p27"/>
          <p:cNvPicPr preferRelativeResize="0">
            <a:picLocks noGrp="1"/>
          </p:cNvPicPr>
          <p:nvPr>
            <p:ph type="pic" idx="3"/>
          </p:nvPr>
        </p:nvPicPr>
        <p:blipFill rotWithShape="1">
          <a:blip r:embed="rId4">
            <a:alphaModFix/>
          </a:blip>
          <a:srcRect t="2615" b="2615"/>
          <a:stretch/>
        </p:blipFill>
        <p:spPr>
          <a:xfrm>
            <a:off x="4537600" y="2333225"/>
            <a:ext cx="3799200" cy="2403300"/>
          </a:xfrm>
          <a:prstGeom prst="roundRect">
            <a:avLst>
              <a:gd name="adj" fmla="val 16667"/>
            </a:avLst>
          </a:prstGeom>
        </p:spPr>
      </p:pic>
      <p:sp>
        <p:nvSpPr>
          <p:cNvPr id="4" name="TextBox 3">
            <a:extLst>
              <a:ext uri="{FF2B5EF4-FFF2-40B4-BE49-F238E27FC236}">
                <a16:creationId xmlns:a16="http://schemas.microsoft.com/office/drawing/2014/main" id="{5281D852-2419-7F92-657A-06DE7CFAC030}"/>
              </a:ext>
            </a:extLst>
          </p:cNvPr>
          <p:cNvSpPr txBox="1"/>
          <p:nvPr/>
        </p:nvSpPr>
        <p:spPr>
          <a:xfrm>
            <a:off x="526942" y="4998203"/>
            <a:ext cx="1852048" cy="307777"/>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2D11DEBF-F11A-D87A-28EA-F2A656140D66}"/>
              </a:ext>
            </a:extLst>
          </p:cNvPr>
          <p:cNvSpPr txBox="1"/>
          <p:nvPr/>
        </p:nvSpPr>
        <p:spPr>
          <a:xfrm>
            <a:off x="464949" y="193729"/>
            <a:ext cx="619932" cy="307777"/>
          </a:xfrm>
          <a:prstGeom prst="rect">
            <a:avLst/>
          </a:prstGeom>
          <a:noFill/>
        </p:spPr>
        <p:txBody>
          <a:bodyPr wrap="square" rtlCol="0">
            <a:spAutoFit/>
          </a:bodyPr>
          <a:lstStyle/>
          <a:p>
            <a:r>
              <a:rPr lang="en-US"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29"/>
          <p:cNvPicPr preferRelativeResize="0">
            <a:picLocks noGrp="1"/>
          </p:cNvPicPr>
          <p:nvPr>
            <p:ph type="pic" idx="16"/>
          </p:nvPr>
        </p:nvPicPr>
        <p:blipFill rotWithShape="1">
          <a:blip r:embed="rId3">
            <a:alphaModFix/>
          </a:blip>
          <a:srcRect l="28358" r="20839" b="-39101"/>
          <a:stretch/>
        </p:blipFill>
        <p:spPr>
          <a:xfrm>
            <a:off x="39505" y="420650"/>
            <a:ext cx="4325100" cy="7909500"/>
          </a:xfrm>
          <a:prstGeom prst="roundRect">
            <a:avLst>
              <a:gd name="adj" fmla="val 50000"/>
            </a:avLst>
          </a:prstGeom>
          <a:noFill/>
        </p:spPr>
      </p:pic>
      <p:sp>
        <p:nvSpPr>
          <p:cNvPr id="270" name="Google Shape;270;p29"/>
          <p:cNvSpPr txBox="1">
            <a:spLocks noGrp="1"/>
          </p:cNvSpPr>
          <p:nvPr>
            <p:ph type="title"/>
          </p:nvPr>
        </p:nvSpPr>
        <p:spPr>
          <a:xfrm>
            <a:off x="4578775" y="445025"/>
            <a:ext cx="384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71" name="Google Shape;271;p29"/>
          <p:cNvSpPr txBox="1">
            <a:spLocks noGrp="1"/>
          </p:cNvSpPr>
          <p:nvPr>
            <p:ph type="title" idx="2"/>
          </p:nvPr>
        </p:nvSpPr>
        <p:spPr>
          <a:xfrm>
            <a:off x="4578775" y="1256033"/>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72" name="Google Shape;272;p29"/>
          <p:cNvSpPr txBox="1">
            <a:spLocks noGrp="1"/>
          </p:cNvSpPr>
          <p:nvPr>
            <p:ph type="title" idx="3"/>
          </p:nvPr>
        </p:nvSpPr>
        <p:spPr>
          <a:xfrm>
            <a:off x="4578775" y="2946988"/>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73" name="Google Shape;273;p29"/>
          <p:cNvSpPr txBox="1">
            <a:spLocks noGrp="1"/>
          </p:cNvSpPr>
          <p:nvPr>
            <p:ph type="title" idx="4"/>
          </p:nvPr>
        </p:nvSpPr>
        <p:spPr>
          <a:xfrm>
            <a:off x="4572000" y="1819685"/>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74" name="Google Shape;274;p29"/>
          <p:cNvSpPr txBox="1">
            <a:spLocks noGrp="1"/>
          </p:cNvSpPr>
          <p:nvPr>
            <p:ph type="title" idx="5"/>
          </p:nvPr>
        </p:nvSpPr>
        <p:spPr>
          <a:xfrm>
            <a:off x="4572000" y="3510640"/>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75" name="Google Shape;275;p29"/>
          <p:cNvSpPr txBox="1">
            <a:spLocks noGrp="1"/>
          </p:cNvSpPr>
          <p:nvPr>
            <p:ph type="title" idx="6"/>
          </p:nvPr>
        </p:nvSpPr>
        <p:spPr>
          <a:xfrm>
            <a:off x="4572000" y="2383336"/>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77" name="Google Shape;277;p29"/>
          <p:cNvSpPr txBox="1">
            <a:spLocks noGrp="1"/>
          </p:cNvSpPr>
          <p:nvPr>
            <p:ph type="subTitle" idx="1"/>
          </p:nvPr>
        </p:nvSpPr>
        <p:spPr>
          <a:xfrm>
            <a:off x="5522625" y="1256025"/>
            <a:ext cx="29013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Introduction</a:t>
            </a:r>
            <a:endParaRPr dirty="0"/>
          </a:p>
        </p:txBody>
      </p:sp>
      <p:sp>
        <p:nvSpPr>
          <p:cNvPr id="278" name="Google Shape;278;p29"/>
          <p:cNvSpPr txBox="1">
            <a:spLocks noGrp="1"/>
          </p:cNvSpPr>
          <p:nvPr>
            <p:ph type="subTitle" idx="8"/>
          </p:nvPr>
        </p:nvSpPr>
        <p:spPr>
          <a:xfrm>
            <a:off x="5514100" y="1819690"/>
            <a:ext cx="2901300" cy="457200"/>
          </a:xfrm>
          <a:prstGeom prst="rect">
            <a:avLst/>
          </a:prstGeom>
        </p:spPr>
        <p:txBody>
          <a:bodyPr spcFirstLastPara="1" wrap="square" lIns="91425" tIns="91425" rIns="91425" bIns="91425" anchor="t" anchorCtr="0">
            <a:noAutofit/>
          </a:bodyPr>
          <a:lstStyle/>
          <a:p>
            <a:pPr marL="0" indent="0"/>
            <a:r>
              <a:rPr lang="en-US" dirty="0"/>
              <a:t>Business Question </a:t>
            </a:r>
          </a:p>
          <a:p>
            <a:pPr marL="0" lvl="0" indent="0" algn="l" rtl="0">
              <a:spcBef>
                <a:spcPts val="0"/>
              </a:spcBef>
              <a:spcAft>
                <a:spcPts val="0"/>
              </a:spcAft>
              <a:buNone/>
            </a:pPr>
            <a:endParaRPr dirty="0"/>
          </a:p>
        </p:txBody>
      </p:sp>
      <p:sp>
        <p:nvSpPr>
          <p:cNvPr id="279" name="Google Shape;279;p29"/>
          <p:cNvSpPr txBox="1">
            <a:spLocks noGrp="1"/>
          </p:cNvSpPr>
          <p:nvPr>
            <p:ph type="subTitle" idx="9"/>
          </p:nvPr>
        </p:nvSpPr>
        <p:spPr>
          <a:xfrm>
            <a:off x="5514100" y="2383355"/>
            <a:ext cx="29013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Approach</a:t>
            </a:r>
            <a:endParaRPr dirty="0"/>
          </a:p>
        </p:txBody>
      </p:sp>
      <p:sp>
        <p:nvSpPr>
          <p:cNvPr id="280" name="Google Shape;280;p29"/>
          <p:cNvSpPr txBox="1">
            <a:spLocks noGrp="1"/>
          </p:cNvSpPr>
          <p:nvPr>
            <p:ph type="subTitle" idx="13"/>
          </p:nvPr>
        </p:nvSpPr>
        <p:spPr>
          <a:xfrm>
            <a:off x="5522625" y="2947020"/>
            <a:ext cx="29013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Results</a:t>
            </a:r>
            <a:endParaRPr dirty="0"/>
          </a:p>
        </p:txBody>
      </p:sp>
      <p:sp>
        <p:nvSpPr>
          <p:cNvPr id="281" name="Google Shape;281;p29"/>
          <p:cNvSpPr txBox="1">
            <a:spLocks noGrp="1"/>
          </p:cNvSpPr>
          <p:nvPr>
            <p:ph type="subTitle" idx="14"/>
          </p:nvPr>
        </p:nvSpPr>
        <p:spPr>
          <a:xfrm>
            <a:off x="5514100" y="3510685"/>
            <a:ext cx="29013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Conclusions</a:t>
            </a:r>
            <a:endParaRPr dirty="0"/>
          </a:p>
        </p:txBody>
      </p:sp>
      <p:grpSp>
        <p:nvGrpSpPr>
          <p:cNvPr id="283" name="Google Shape;283;p29"/>
          <p:cNvGrpSpPr/>
          <p:nvPr/>
        </p:nvGrpSpPr>
        <p:grpSpPr>
          <a:xfrm>
            <a:off x="337763" y="75900"/>
            <a:ext cx="3727575" cy="5005500"/>
            <a:chOff x="337763" y="75900"/>
            <a:chExt cx="3727575" cy="5005500"/>
          </a:xfrm>
        </p:grpSpPr>
        <p:grpSp>
          <p:nvGrpSpPr>
            <p:cNvPr id="284" name="Google Shape;284;p29"/>
            <p:cNvGrpSpPr/>
            <p:nvPr/>
          </p:nvGrpSpPr>
          <p:grpSpPr>
            <a:xfrm>
              <a:off x="337763" y="75900"/>
              <a:ext cx="3727575" cy="5005500"/>
              <a:chOff x="337763" y="75900"/>
              <a:chExt cx="3727575" cy="5005500"/>
            </a:xfrm>
          </p:grpSpPr>
          <p:sp>
            <p:nvSpPr>
              <p:cNvPr id="285" name="Google Shape;285;p29"/>
              <p:cNvSpPr/>
              <p:nvPr/>
            </p:nvSpPr>
            <p:spPr>
              <a:xfrm>
                <a:off x="337763" y="75900"/>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9"/>
              <p:cNvSpPr/>
              <p:nvPr/>
            </p:nvSpPr>
            <p:spPr>
              <a:xfrm>
                <a:off x="3851138" y="75900"/>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9"/>
              <p:cNvSpPr/>
              <p:nvPr/>
            </p:nvSpPr>
            <p:spPr>
              <a:xfrm>
                <a:off x="337763" y="4867200"/>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9"/>
              <p:cNvSpPr/>
              <p:nvPr/>
            </p:nvSpPr>
            <p:spPr>
              <a:xfrm>
                <a:off x="3851138" y="4867200"/>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 name="Google Shape;289;p29"/>
            <p:cNvSpPr/>
            <p:nvPr/>
          </p:nvSpPr>
          <p:spPr>
            <a:xfrm>
              <a:off x="412450" y="157375"/>
              <a:ext cx="3576825" cy="4853494"/>
            </a:xfrm>
            <a:custGeom>
              <a:avLst/>
              <a:gdLst/>
              <a:ahLst/>
              <a:cxnLst/>
              <a:rect l="l" t="t" r="r" b="b"/>
              <a:pathLst>
                <a:path w="89231" h="121254" fill="none" extrusionOk="0">
                  <a:moveTo>
                    <a:pt x="83781" y="121254"/>
                  </a:moveTo>
                  <a:lnTo>
                    <a:pt x="5451" y="121254"/>
                  </a:lnTo>
                  <a:cubicBezTo>
                    <a:pt x="5451" y="118243"/>
                    <a:pt x="3010" y="115803"/>
                    <a:pt x="0" y="115803"/>
                  </a:cubicBezTo>
                  <a:lnTo>
                    <a:pt x="0" y="5450"/>
                  </a:lnTo>
                  <a:cubicBezTo>
                    <a:pt x="3010" y="5450"/>
                    <a:pt x="5451" y="3009"/>
                    <a:pt x="5451" y="0"/>
                  </a:cubicBezTo>
                  <a:lnTo>
                    <a:pt x="83781" y="0"/>
                  </a:lnTo>
                  <a:cubicBezTo>
                    <a:pt x="83781" y="3009"/>
                    <a:pt x="86221" y="5450"/>
                    <a:pt x="89231" y="5450"/>
                  </a:cubicBezTo>
                  <a:lnTo>
                    <a:pt x="89231" y="115803"/>
                  </a:lnTo>
                  <a:cubicBezTo>
                    <a:pt x="86221" y="115803"/>
                    <a:pt x="83781" y="118242"/>
                    <a:pt x="83781" y="121254"/>
                  </a:cubicBezTo>
                  <a:close/>
                </a:path>
              </a:pathLst>
            </a:custGeom>
            <a:noFill/>
            <a:ln w="9525" cap="flat" cmpd="sng">
              <a:solidFill>
                <a:schemeClr val="accent3"/>
              </a:solidFill>
              <a:prstDash val="solid"/>
              <a:miter lim="103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a:extLst>
              <a:ext uri="{FF2B5EF4-FFF2-40B4-BE49-F238E27FC236}">
                <a16:creationId xmlns:a16="http://schemas.microsoft.com/office/drawing/2014/main" id="{1BDB4F4B-C516-D4CB-03CC-67484EA3214A}"/>
              </a:ext>
            </a:extLst>
          </p:cNvPr>
          <p:cNvSpPr txBox="1"/>
          <p:nvPr/>
        </p:nvSpPr>
        <p:spPr>
          <a:xfrm>
            <a:off x="635431" y="290100"/>
            <a:ext cx="426203" cy="307777"/>
          </a:xfrm>
          <a:prstGeom prst="rect">
            <a:avLst/>
          </a:prstGeom>
          <a:noFill/>
        </p:spPr>
        <p:txBody>
          <a:bodyPr wrap="squar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cxnSp>
        <p:nvCxnSpPr>
          <p:cNvPr id="305" name="Google Shape;305;p31"/>
          <p:cNvCxnSpPr/>
          <p:nvPr/>
        </p:nvCxnSpPr>
        <p:spPr>
          <a:xfrm>
            <a:off x="2309050" y="4496900"/>
            <a:ext cx="5890200" cy="0"/>
          </a:xfrm>
          <a:prstGeom prst="straightConnector1">
            <a:avLst/>
          </a:prstGeom>
          <a:noFill/>
          <a:ln w="9525" cap="flat" cmpd="sng">
            <a:solidFill>
              <a:schemeClr val="accent3"/>
            </a:solidFill>
            <a:prstDash val="solid"/>
            <a:round/>
            <a:headEnd type="none" w="med" len="med"/>
            <a:tailEnd type="none" w="med" len="med"/>
          </a:ln>
        </p:spPr>
      </p:cxnSp>
      <p:pic>
        <p:nvPicPr>
          <p:cNvPr id="306" name="Google Shape;306;p31"/>
          <p:cNvPicPr preferRelativeResize="0">
            <a:picLocks noGrp="1"/>
          </p:cNvPicPr>
          <p:nvPr>
            <p:ph type="pic" idx="4"/>
          </p:nvPr>
        </p:nvPicPr>
        <p:blipFill rotWithShape="1">
          <a:blip r:embed="rId3">
            <a:alphaModFix/>
          </a:blip>
          <a:srcRect l="31469" r="31469"/>
          <a:stretch/>
        </p:blipFill>
        <p:spPr>
          <a:xfrm>
            <a:off x="466100" y="462450"/>
            <a:ext cx="2342400" cy="4218600"/>
          </a:xfrm>
          <a:prstGeom prst="rect">
            <a:avLst/>
          </a:prstGeom>
        </p:spPr>
      </p:pic>
      <p:sp>
        <p:nvSpPr>
          <p:cNvPr id="307" name="Google Shape;307;p31"/>
          <p:cNvSpPr txBox="1">
            <a:spLocks noGrp="1"/>
          </p:cNvSpPr>
          <p:nvPr>
            <p:ph type="title"/>
          </p:nvPr>
        </p:nvSpPr>
        <p:spPr>
          <a:xfrm>
            <a:off x="4495475" y="3462325"/>
            <a:ext cx="34746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308" name="Google Shape;308;p31"/>
          <p:cNvSpPr txBox="1">
            <a:spLocks noGrp="1"/>
          </p:cNvSpPr>
          <p:nvPr>
            <p:ph type="title" idx="2"/>
          </p:nvPr>
        </p:nvSpPr>
        <p:spPr>
          <a:xfrm>
            <a:off x="4495475" y="2511850"/>
            <a:ext cx="12357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09" name="Google Shape;309;p31"/>
          <p:cNvSpPr/>
          <p:nvPr/>
        </p:nvSpPr>
        <p:spPr>
          <a:xfrm rot="5400000">
            <a:off x="693999" y="2367003"/>
            <a:ext cx="2607025" cy="1866969"/>
          </a:xfrm>
          <a:prstGeom prst="roundRect">
            <a:avLst>
              <a:gd name="adj" fmla="val 50000"/>
            </a:avLst>
          </a:pr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0" name="Google Shape;310;p31"/>
          <p:cNvPicPr preferRelativeResize="0">
            <a:picLocks noGrp="1"/>
          </p:cNvPicPr>
          <p:nvPr>
            <p:ph type="pic" idx="3"/>
          </p:nvPr>
        </p:nvPicPr>
        <p:blipFill rotWithShape="1">
          <a:blip r:embed="rId4">
            <a:alphaModFix/>
          </a:blip>
          <a:srcRect l="5060"/>
          <a:stretch/>
        </p:blipFill>
        <p:spPr>
          <a:xfrm>
            <a:off x="1207965" y="2072427"/>
            <a:ext cx="1579095" cy="2478024"/>
          </a:xfrm>
          <a:prstGeom prst="roundRect">
            <a:avLst>
              <a:gd name="adj" fmla="val 50000"/>
            </a:avLst>
          </a:prstGeom>
        </p:spPr>
      </p:pic>
      <p:sp>
        <p:nvSpPr>
          <p:cNvPr id="311" name="Google Shape;311;p31"/>
          <p:cNvSpPr/>
          <p:nvPr/>
        </p:nvSpPr>
        <p:spPr>
          <a:xfrm>
            <a:off x="7588969" y="539505"/>
            <a:ext cx="841800" cy="841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p:nvPr/>
        </p:nvSpPr>
        <p:spPr>
          <a:xfrm>
            <a:off x="7773169" y="723705"/>
            <a:ext cx="473400" cy="473400"/>
          </a:xfrm>
          <a:prstGeom prst="plaqu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1"/>
          <p:cNvSpPr/>
          <p:nvPr/>
        </p:nvSpPr>
        <p:spPr>
          <a:xfrm flipH="1">
            <a:off x="8116225" y="4389800"/>
            <a:ext cx="214200" cy="214200"/>
          </a:xfrm>
          <a:prstGeom prst="plaqu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084036A-F9EB-FC0D-1682-6EABD140F541}"/>
              </a:ext>
            </a:extLst>
          </p:cNvPr>
          <p:cNvSpPr txBox="1"/>
          <p:nvPr/>
        </p:nvSpPr>
        <p:spPr>
          <a:xfrm>
            <a:off x="466100" y="154673"/>
            <a:ext cx="463798" cy="307777"/>
          </a:xfrm>
          <a:prstGeom prst="rect">
            <a:avLst/>
          </a:prstGeom>
          <a:noFill/>
        </p:spPr>
        <p:txBody>
          <a:bodyPr wrap="squar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0"/>
          <p:cNvSpPr txBox="1">
            <a:spLocks noGrp="1"/>
          </p:cNvSpPr>
          <p:nvPr>
            <p:ph type="title"/>
          </p:nvPr>
        </p:nvSpPr>
        <p:spPr>
          <a:xfrm>
            <a:off x="702463" y="263471"/>
            <a:ext cx="4294800" cy="10921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About E- Commerce website</a:t>
            </a:r>
            <a:endParaRPr dirty="0"/>
          </a:p>
        </p:txBody>
      </p:sp>
      <p:sp>
        <p:nvSpPr>
          <p:cNvPr id="295" name="Google Shape;295;p30"/>
          <p:cNvSpPr txBox="1">
            <a:spLocks noGrp="1"/>
          </p:cNvSpPr>
          <p:nvPr>
            <p:ph type="subTitle" idx="1"/>
          </p:nvPr>
        </p:nvSpPr>
        <p:spPr>
          <a:xfrm>
            <a:off x="572563" y="1422587"/>
            <a:ext cx="4554600" cy="264571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b="0" i="0" u="none" strike="noStrike" dirty="0">
              <a:solidFill>
                <a:schemeClr val="accent4"/>
              </a:solidFill>
              <a:effectLst/>
              <a:latin typeface="Montserrat" pitchFamily="2" charset="77"/>
            </a:endParaRPr>
          </a:p>
          <a:p>
            <a:pPr marL="0" lvl="0" indent="0" algn="l" rtl="0">
              <a:spcBef>
                <a:spcPts val="0"/>
              </a:spcBef>
              <a:spcAft>
                <a:spcPts val="0"/>
              </a:spcAft>
              <a:buNone/>
            </a:pPr>
            <a:r>
              <a:rPr lang="en-US" sz="1400" dirty="0">
                <a:solidFill>
                  <a:schemeClr val="accent4"/>
                </a:solidFill>
                <a:latin typeface="Montserrat" pitchFamily="2" charset="77"/>
              </a:rPr>
              <a:t>-  </a:t>
            </a:r>
            <a:r>
              <a:rPr lang="en-US" sz="1400" b="0" i="0" u="none" strike="noStrike" dirty="0">
                <a:solidFill>
                  <a:schemeClr val="accent4"/>
                </a:solidFill>
                <a:effectLst/>
                <a:latin typeface="Montserrat" pitchFamily="2" charset="77"/>
              </a:rPr>
              <a:t>The internet platforms known as e-commerce websites make it easier for people to buy and sell products and services online. </a:t>
            </a:r>
          </a:p>
          <a:p>
            <a:pPr marL="0" lvl="0" indent="0" algn="l" rtl="0">
              <a:spcBef>
                <a:spcPts val="0"/>
              </a:spcBef>
              <a:spcAft>
                <a:spcPts val="0"/>
              </a:spcAft>
              <a:buNone/>
            </a:pPr>
            <a:endParaRPr lang="en-US" sz="1400" b="0" i="0" u="none" strike="noStrike" dirty="0">
              <a:solidFill>
                <a:schemeClr val="accent4"/>
              </a:solidFill>
              <a:effectLst/>
              <a:latin typeface="Montserrat" pitchFamily="2" charset="77"/>
            </a:endParaRPr>
          </a:p>
          <a:p>
            <a:pPr marL="0" lvl="0" indent="0" algn="l" rtl="0">
              <a:spcBef>
                <a:spcPts val="0"/>
              </a:spcBef>
              <a:spcAft>
                <a:spcPts val="0"/>
              </a:spcAft>
              <a:buNone/>
            </a:pPr>
            <a:r>
              <a:rPr lang="en-US" sz="1400" dirty="0">
                <a:solidFill>
                  <a:schemeClr val="accent4"/>
                </a:solidFill>
                <a:latin typeface="Montserrat" pitchFamily="2" charset="77"/>
              </a:rPr>
              <a:t>-</a:t>
            </a:r>
            <a:r>
              <a:rPr lang="en-US" sz="1400" b="0" i="0" u="none" strike="noStrike" dirty="0">
                <a:solidFill>
                  <a:schemeClr val="accent4"/>
                </a:solidFill>
                <a:effectLst/>
                <a:latin typeface="Montserrat" pitchFamily="2" charset="77"/>
              </a:rPr>
              <a:t> They now play a crucial role in contemporary business, allowing companies to expand their customer base beyond conventional regional restrictions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Examples: The most famous Amazon is a leading</a:t>
            </a:r>
          </a:p>
          <a:p>
            <a:pPr marL="0" lvl="0" indent="0" algn="l" rtl="0">
              <a:spcBef>
                <a:spcPts val="0"/>
              </a:spcBef>
              <a:spcAft>
                <a:spcPts val="0"/>
              </a:spcAft>
              <a:buNone/>
            </a:pPr>
            <a:r>
              <a:rPr lang="en-US" dirty="0"/>
              <a:t> E-commerce website in the world.</a:t>
            </a:r>
          </a:p>
          <a:p>
            <a:pPr marL="0" lvl="0" indent="0" algn="l" rtl="0">
              <a:spcBef>
                <a:spcPts val="0"/>
              </a:spcBef>
              <a:spcAft>
                <a:spcPts val="0"/>
              </a:spcAft>
              <a:buNone/>
            </a:pPr>
            <a:r>
              <a:rPr lang="en-US" dirty="0"/>
              <a:t> </a:t>
            </a:r>
          </a:p>
        </p:txBody>
      </p:sp>
      <p:pic>
        <p:nvPicPr>
          <p:cNvPr id="296" name="Google Shape;296;p30"/>
          <p:cNvPicPr preferRelativeResize="0">
            <a:picLocks noGrp="1"/>
          </p:cNvPicPr>
          <p:nvPr>
            <p:ph type="pic" idx="2"/>
          </p:nvPr>
        </p:nvPicPr>
        <p:blipFill rotWithShape="1">
          <a:blip r:embed="rId3">
            <a:alphaModFix/>
          </a:blip>
          <a:srcRect l="28825" t="1968" r="28821" b="1988"/>
          <a:stretch/>
        </p:blipFill>
        <p:spPr>
          <a:xfrm>
            <a:off x="5711125" y="462450"/>
            <a:ext cx="2719650" cy="4218600"/>
          </a:xfrm>
          <a:prstGeom prst="rect">
            <a:avLst/>
          </a:prstGeom>
        </p:spPr>
      </p:pic>
      <p:sp>
        <p:nvSpPr>
          <p:cNvPr id="297" name="Google Shape;297;p30"/>
          <p:cNvSpPr/>
          <p:nvPr/>
        </p:nvSpPr>
        <p:spPr>
          <a:xfrm>
            <a:off x="5772175" y="1306650"/>
            <a:ext cx="2530200" cy="2530200"/>
          </a:xfrm>
          <a:prstGeom prst="ellipse">
            <a:avLst/>
          </a:pr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8" name="Google Shape;298;p30"/>
          <p:cNvPicPr preferRelativeResize="0">
            <a:picLocks noGrp="1"/>
          </p:cNvPicPr>
          <p:nvPr>
            <p:ph type="pic" idx="3"/>
          </p:nvPr>
        </p:nvPicPr>
        <p:blipFill rotWithShape="1">
          <a:blip r:embed="rId4">
            <a:alphaModFix/>
          </a:blip>
          <a:srcRect l="13616" r="19636"/>
          <a:stretch/>
        </p:blipFill>
        <p:spPr>
          <a:xfrm>
            <a:off x="5888137" y="1422588"/>
            <a:ext cx="2298300" cy="2298300"/>
          </a:xfrm>
          <a:prstGeom prst="ellipse">
            <a:avLst/>
          </a:prstGeom>
        </p:spPr>
      </p:pic>
      <p:sp>
        <p:nvSpPr>
          <p:cNvPr id="299" name="Google Shape;299;p30"/>
          <p:cNvSpPr/>
          <p:nvPr/>
        </p:nvSpPr>
        <p:spPr>
          <a:xfrm>
            <a:off x="5219419" y="539505"/>
            <a:ext cx="841800" cy="841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5403619" y="723705"/>
            <a:ext cx="473400" cy="473400"/>
          </a:xfrm>
          <a:prstGeom prst="plaqu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EA1C0EF3-9FE7-413B-730C-35EDC08EC462}"/>
              </a:ext>
            </a:extLst>
          </p:cNvPr>
          <p:cNvPicPr>
            <a:picLocks noChangeAspect="1"/>
          </p:cNvPicPr>
          <p:nvPr/>
        </p:nvPicPr>
        <p:blipFill>
          <a:blip r:embed="rId5"/>
          <a:stretch>
            <a:fillRect/>
          </a:stretch>
        </p:blipFill>
        <p:spPr>
          <a:xfrm>
            <a:off x="5705698" y="1306650"/>
            <a:ext cx="2719651" cy="2922001"/>
          </a:xfrm>
          <a:prstGeom prst="rect">
            <a:avLst/>
          </a:prstGeom>
        </p:spPr>
      </p:pic>
      <p:sp>
        <p:nvSpPr>
          <p:cNvPr id="4" name="TextBox 3">
            <a:extLst>
              <a:ext uri="{FF2B5EF4-FFF2-40B4-BE49-F238E27FC236}">
                <a16:creationId xmlns:a16="http://schemas.microsoft.com/office/drawing/2014/main" id="{4DDA1719-4C46-F374-105A-565C7CA4BFBC}"/>
              </a:ext>
            </a:extLst>
          </p:cNvPr>
          <p:cNvSpPr txBox="1"/>
          <p:nvPr/>
        </p:nvSpPr>
        <p:spPr>
          <a:xfrm>
            <a:off x="572563" y="0"/>
            <a:ext cx="450325" cy="307777"/>
          </a:xfrm>
          <a:prstGeom prst="rect">
            <a:avLst/>
          </a:prstGeom>
          <a:noFill/>
        </p:spPr>
        <p:txBody>
          <a:bodyPr wrap="squar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About our Data.</a:t>
            </a:r>
            <a:endParaRPr dirty="0"/>
          </a:p>
        </p:txBody>
      </p:sp>
      <p:sp>
        <p:nvSpPr>
          <p:cNvPr id="11" name="Subtitle 10">
            <a:extLst>
              <a:ext uri="{FF2B5EF4-FFF2-40B4-BE49-F238E27FC236}">
                <a16:creationId xmlns:a16="http://schemas.microsoft.com/office/drawing/2014/main" id="{358D75B0-997F-F3A2-2C7F-5C7D9AF4F4EF}"/>
              </a:ext>
            </a:extLst>
          </p:cNvPr>
          <p:cNvSpPr>
            <a:spLocks noGrp="1"/>
          </p:cNvSpPr>
          <p:nvPr>
            <p:ph type="subTitle" idx="3"/>
          </p:nvPr>
        </p:nvSpPr>
        <p:spPr>
          <a:xfrm>
            <a:off x="480761" y="1608927"/>
            <a:ext cx="7717500" cy="2350890"/>
          </a:xfrm>
        </p:spPr>
        <p:txBody>
          <a:bodyPr/>
          <a:lstStyle/>
          <a:p>
            <a:r>
              <a:rPr lang="en-US" dirty="0"/>
              <a:t>- We have a dataset on cosmetics E-Commerce website. The field of cosmetics has had a  huge impact on almost every individual lately. Cosmetics are used for many different purposes not just for makeup. </a:t>
            </a:r>
          </a:p>
          <a:p>
            <a:endParaRPr lang="en-US" dirty="0"/>
          </a:p>
          <a:p>
            <a:r>
              <a:rPr lang="en-US" dirty="0"/>
              <a:t>- In our dataset, we can see that this website does call itself a cosmetics store but they do not just focus on cosmetics but have more to offer. </a:t>
            </a:r>
          </a:p>
          <a:p>
            <a:endParaRPr lang="en-US" dirty="0"/>
          </a:p>
          <a:p>
            <a:r>
              <a:rPr lang="en-US" dirty="0"/>
              <a:t>- this shows that the website has a lot of wide range of options for our consumers and to have many options in our catalog is always an advantage as people always prefer more options they can choose from </a:t>
            </a:r>
          </a:p>
        </p:txBody>
      </p:sp>
      <p:sp>
        <p:nvSpPr>
          <p:cNvPr id="12" name="TextBox 11">
            <a:extLst>
              <a:ext uri="{FF2B5EF4-FFF2-40B4-BE49-F238E27FC236}">
                <a16:creationId xmlns:a16="http://schemas.microsoft.com/office/drawing/2014/main" id="{EEA07EEB-750C-C805-B34F-6D9211AF03D8}"/>
              </a:ext>
            </a:extLst>
          </p:cNvPr>
          <p:cNvSpPr txBox="1"/>
          <p:nvPr/>
        </p:nvSpPr>
        <p:spPr>
          <a:xfrm>
            <a:off x="193729" y="162732"/>
            <a:ext cx="418454" cy="307777"/>
          </a:xfrm>
          <a:prstGeom prst="rect">
            <a:avLst/>
          </a:prstGeom>
          <a:noFill/>
        </p:spPr>
        <p:txBody>
          <a:bodyPr wrap="squar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22" name="TextBox 21">
            <a:extLst>
              <a:ext uri="{FF2B5EF4-FFF2-40B4-BE49-F238E27FC236}">
                <a16:creationId xmlns:a16="http://schemas.microsoft.com/office/drawing/2014/main" id="{E8762634-4EF2-FC58-1687-7B31F3CF89F9}"/>
              </a:ext>
            </a:extLst>
          </p:cNvPr>
          <p:cNvSpPr txBox="1"/>
          <p:nvPr/>
        </p:nvSpPr>
        <p:spPr>
          <a:xfrm>
            <a:off x="2801319" y="195687"/>
            <a:ext cx="3541362" cy="400110"/>
          </a:xfrm>
          <a:prstGeom prst="rect">
            <a:avLst/>
          </a:prstGeom>
          <a:noFill/>
        </p:spPr>
        <p:txBody>
          <a:bodyPr wrap="square" rtlCol="0">
            <a:spAutoFit/>
          </a:bodyPr>
          <a:lstStyle/>
          <a:p>
            <a:r>
              <a:rPr lang="en-US" sz="2000" dirty="0">
                <a:solidFill>
                  <a:schemeClr val="bg1"/>
                </a:solidFill>
              </a:rPr>
              <a:t>Data Dictionary</a:t>
            </a:r>
          </a:p>
        </p:txBody>
      </p:sp>
      <p:sp>
        <p:nvSpPr>
          <p:cNvPr id="24" name="TextBox 23">
            <a:extLst>
              <a:ext uri="{FF2B5EF4-FFF2-40B4-BE49-F238E27FC236}">
                <a16:creationId xmlns:a16="http://schemas.microsoft.com/office/drawing/2014/main" id="{D99A34F2-55D2-8C90-042A-C0AF8ED835F7}"/>
              </a:ext>
            </a:extLst>
          </p:cNvPr>
          <p:cNvSpPr txBox="1"/>
          <p:nvPr/>
        </p:nvSpPr>
        <p:spPr>
          <a:xfrm>
            <a:off x="170481" y="828633"/>
            <a:ext cx="5579390" cy="307777"/>
          </a:xfrm>
          <a:prstGeom prst="rect">
            <a:avLst/>
          </a:prstGeom>
          <a:noFill/>
        </p:spPr>
        <p:txBody>
          <a:bodyPr wrap="square" rtlCol="0">
            <a:spAutoFit/>
          </a:bodyPr>
          <a:lstStyle/>
          <a:p>
            <a:r>
              <a:rPr lang="en-US" dirty="0"/>
              <a:t>Total number of observations: 3663737</a:t>
            </a:r>
          </a:p>
        </p:txBody>
      </p:sp>
      <p:sp>
        <p:nvSpPr>
          <p:cNvPr id="30" name="TextBox 29">
            <a:extLst>
              <a:ext uri="{FF2B5EF4-FFF2-40B4-BE49-F238E27FC236}">
                <a16:creationId xmlns:a16="http://schemas.microsoft.com/office/drawing/2014/main" id="{5033273A-0E2E-34E3-EA16-1D84485C67CD}"/>
              </a:ext>
            </a:extLst>
          </p:cNvPr>
          <p:cNvSpPr txBox="1"/>
          <p:nvPr/>
        </p:nvSpPr>
        <p:spPr>
          <a:xfrm>
            <a:off x="364209" y="1208868"/>
            <a:ext cx="8989017" cy="3108543"/>
          </a:xfrm>
          <a:prstGeom prst="rect">
            <a:avLst/>
          </a:prstGeom>
          <a:noFill/>
        </p:spPr>
        <p:txBody>
          <a:bodyPr wrap="square" rtlCol="0">
            <a:spAutoFit/>
          </a:bodyPr>
          <a:lstStyle/>
          <a:p>
            <a:r>
              <a:rPr lang="en-US" dirty="0"/>
              <a:t>Variables: </a:t>
            </a:r>
          </a:p>
          <a:p>
            <a:pPr marL="342900" indent="-342900">
              <a:buAutoNum type="arabicPeriod"/>
            </a:pPr>
            <a:r>
              <a:rPr lang="en-US" dirty="0"/>
              <a:t>Event type cart :  Chr:   0= Not in cart        1=  In cart</a:t>
            </a:r>
          </a:p>
          <a:p>
            <a:pPr marL="342900" indent="-342900">
              <a:buAutoNum type="arabicPeriod"/>
            </a:pPr>
            <a:r>
              <a:rPr lang="en-US" dirty="0"/>
              <a:t>Time of the day Morning:   Chr   0,1</a:t>
            </a:r>
          </a:p>
          <a:p>
            <a:pPr marL="342900" indent="-342900">
              <a:buAutoNum type="arabicPeriod"/>
            </a:pPr>
            <a:r>
              <a:rPr lang="en-US" dirty="0"/>
              <a:t>Time of the day Evening:   Chr   0,1</a:t>
            </a:r>
          </a:p>
          <a:p>
            <a:pPr marL="342900" indent="-342900">
              <a:buAutoNum type="arabicPeriod"/>
            </a:pPr>
            <a:r>
              <a:rPr lang="en-US" dirty="0"/>
              <a:t>Time of the day Afternoon: Chr   0,1</a:t>
            </a:r>
          </a:p>
          <a:p>
            <a:pPr marL="342900" indent="-342900">
              <a:buAutoNum type="arabicPeriod"/>
            </a:pPr>
            <a:r>
              <a:rPr lang="en-US" dirty="0"/>
              <a:t>Product ID: Integer: 5773203 5773353 5881589 5723490 5881449 5857269 5739055</a:t>
            </a:r>
          </a:p>
          <a:p>
            <a:pPr marL="342900" indent="-342900">
              <a:buAutoNum type="arabicPeriod"/>
            </a:pPr>
            <a:r>
              <a:rPr lang="en-US" dirty="0"/>
              <a:t>Category ID: num: 1487580005134238464 1487580005134238464 2151191071051219712</a:t>
            </a:r>
          </a:p>
          <a:p>
            <a:pPr marL="342900" indent="-342900">
              <a:buAutoNum type="arabicPeriod"/>
            </a:pPr>
            <a:r>
              <a:rPr lang="en-US" dirty="0"/>
              <a:t>Category Code:  Chr:   Unknown, Appliances, Furniture, Stationary, Accessories  </a:t>
            </a:r>
          </a:p>
          <a:p>
            <a:pPr marL="342900" indent="-342900">
              <a:buAutoNum type="arabicPeriod"/>
            </a:pPr>
            <a:r>
              <a:rPr lang="en-US" dirty="0"/>
              <a:t>Brand:   Num: 0= Unknown brand.    1: Known Brand</a:t>
            </a:r>
          </a:p>
          <a:p>
            <a:pPr marL="342900" indent="-342900">
              <a:buAutoNum type="arabicPeriod"/>
            </a:pPr>
            <a:r>
              <a:rPr lang="en-US" dirty="0"/>
              <a:t>Price: Number</a:t>
            </a:r>
          </a:p>
          <a:p>
            <a:pPr marL="342900" indent="-342900">
              <a:buAutoNum type="arabicPeriod"/>
            </a:pPr>
            <a:r>
              <a:rPr lang="en-US" dirty="0"/>
              <a:t>User ID: Integer: 463240011 463240011 429681830 463240011 429681830 430174032 377667011 467916806 385985999 474232307 ...</a:t>
            </a:r>
          </a:p>
          <a:p>
            <a:pPr marL="342900" indent="-342900">
              <a:buAutoNum type="arabicPeriod"/>
            </a:pPr>
            <a:r>
              <a:rPr lang="en-US" dirty="0"/>
              <a:t>User Session:  Chr: "26dd6e6e-4dac-4778-8d2c-92e149dab885" "26dd6e6e-4dac-4778-8d2c-92e149dab885" "49e8d843-adf3-428b-a2c3-fe8bc6a307c9" "26dd6e6e-4dac-4778-8d2c-92e149dab885" ...  </a:t>
            </a:r>
          </a:p>
        </p:txBody>
      </p:sp>
      <p:sp>
        <p:nvSpPr>
          <p:cNvPr id="31" name="TextBox 30">
            <a:extLst>
              <a:ext uri="{FF2B5EF4-FFF2-40B4-BE49-F238E27FC236}">
                <a16:creationId xmlns:a16="http://schemas.microsoft.com/office/drawing/2014/main" id="{58056D89-BDA8-3518-D9B6-D5491D763BEB}"/>
              </a:ext>
            </a:extLst>
          </p:cNvPr>
          <p:cNvSpPr txBox="1"/>
          <p:nvPr/>
        </p:nvSpPr>
        <p:spPr>
          <a:xfrm>
            <a:off x="472698" y="278969"/>
            <a:ext cx="410705" cy="316828"/>
          </a:xfrm>
          <a:prstGeom prst="rect">
            <a:avLst/>
          </a:prstGeom>
          <a:noFill/>
        </p:spPr>
        <p:txBody>
          <a:bodyPr wrap="square" rtlCol="0">
            <a:spAutoFit/>
          </a:bodyPr>
          <a:lstStyle/>
          <a:p>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3"/>
          <p:cNvSpPr txBox="1">
            <a:spLocks noGrp="1"/>
          </p:cNvSpPr>
          <p:nvPr>
            <p:ph type="title"/>
          </p:nvPr>
        </p:nvSpPr>
        <p:spPr>
          <a:xfrm>
            <a:off x="720000" y="1615146"/>
            <a:ext cx="7704000" cy="2174189"/>
          </a:xfrm>
          <a:prstGeom prst="rect">
            <a:avLst/>
          </a:prstGeom>
        </p:spPr>
        <p:txBody>
          <a:bodyPr spcFirstLastPara="1" wrap="square" lIns="91425" tIns="91425" rIns="91425" bIns="91425" anchor="t" anchorCtr="0">
            <a:noAutofit/>
          </a:bodyPr>
          <a:lstStyle/>
          <a:p>
            <a:r>
              <a:rPr lang="en-US" sz="4000" dirty="0">
                <a:latin typeface="Cochin" panose="02000603020000020003" pitchFamily="2" charset="0"/>
                <a:cs typeface="Kavivanar" panose="02000503000000000000" pitchFamily="2" charset="0"/>
              </a:rPr>
              <a:t>Understanding the top factors that influence a customer to keep something in their cart. </a:t>
            </a:r>
            <a:br>
              <a:rPr lang="en-US" sz="4000" dirty="0">
                <a:latin typeface="Cochin" panose="02000603020000020003" pitchFamily="2" charset="0"/>
                <a:cs typeface="Kavivanar" panose="02000503000000000000" pitchFamily="2" charset="0"/>
              </a:rPr>
            </a:br>
            <a:r>
              <a:rPr lang="en-US" sz="4000" dirty="0"/>
              <a:t> </a:t>
            </a:r>
          </a:p>
        </p:txBody>
      </p:sp>
      <p:sp>
        <p:nvSpPr>
          <p:cNvPr id="13" name="TextBox 12">
            <a:extLst>
              <a:ext uri="{FF2B5EF4-FFF2-40B4-BE49-F238E27FC236}">
                <a16:creationId xmlns:a16="http://schemas.microsoft.com/office/drawing/2014/main" id="{BC56FFE3-20DD-20A7-A419-154267770F66}"/>
              </a:ext>
            </a:extLst>
          </p:cNvPr>
          <p:cNvSpPr txBox="1"/>
          <p:nvPr/>
        </p:nvSpPr>
        <p:spPr>
          <a:xfrm>
            <a:off x="1224367" y="542441"/>
            <a:ext cx="6300060" cy="769441"/>
          </a:xfrm>
          <a:prstGeom prst="rect">
            <a:avLst/>
          </a:prstGeom>
          <a:noFill/>
        </p:spPr>
        <p:txBody>
          <a:bodyPr wrap="square" rtlCol="0">
            <a:spAutoFit/>
          </a:bodyPr>
          <a:lstStyle/>
          <a:p>
            <a:r>
              <a:rPr lang="en-US" sz="4400" dirty="0">
                <a:solidFill>
                  <a:schemeClr val="accent4"/>
                </a:solidFill>
                <a:latin typeface="Big Caslon Medium" panose="02000603090000020003" pitchFamily="2" charset="-79"/>
                <a:cs typeface="Big Caslon Medium" panose="02000603090000020003" pitchFamily="2" charset="-79"/>
              </a:rPr>
              <a:t>Our Business Question</a:t>
            </a:r>
          </a:p>
        </p:txBody>
      </p:sp>
      <p:sp>
        <p:nvSpPr>
          <p:cNvPr id="14" name="TextBox 13">
            <a:extLst>
              <a:ext uri="{FF2B5EF4-FFF2-40B4-BE49-F238E27FC236}">
                <a16:creationId xmlns:a16="http://schemas.microsoft.com/office/drawing/2014/main" id="{4A610B06-07E1-F168-3AF8-ECAFAA60F757}"/>
              </a:ext>
            </a:extLst>
          </p:cNvPr>
          <p:cNvSpPr txBox="1"/>
          <p:nvPr/>
        </p:nvSpPr>
        <p:spPr>
          <a:xfrm>
            <a:off x="201478" y="317715"/>
            <a:ext cx="518522" cy="317716"/>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1887956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APPROACH</a:t>
            </a:r>
            <a:endParaRPr dirty="0"/>
          </a:p>
        </p:txBody>
      </p:sp>
      <p:sp>
        <p:nvSpPr>
          <p:cNvPr id="490" name="Google Shape;490;p41"/>
          <p:cNvSpPr txBox="1"/>
          <p:nvPr/>
        </p:nvSpPr>
        <p:spPr>
          <a:xfrm flipH="1">
            <a:off x="708699" y="1777173"/>
            <a:ext cx="1828800" cy="97360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Understanding the dataset.</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pre-processing the data </a:t>
            </a:r>
            <a:endParaRPr sz="1200" dirty="0">
              <a:solidFill>
                <a:schemeClr val="lt1"/>
              </a:solidFill>
              <a:latin typeface="DM Sans Medium"/>
              <a:ea typeface="DM Sans Medium"/>
              <a:cs typeface="DM Sans Medium"/>
              <a:sym typeface="DM Sans Medium"/>
            </a:endParaRPr>
          </a:p>
        </p:txBody>
      </p:sp>
      <p:sp>
        <p:nvSpPr>
          <p:cNvPr id="491" name="Google Shape;491;p41"/>
          <p:cNvSpPr txBox="1"/>
          <p:nvPr/>
        </p:nvSpPr>
        <p:spPr>
          <a:xfrm flipH="1">
            <a:off x="3654549" y="1627125"/>
            <a:ext cx="1828800" cy="113421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-Detecting the outliers and cleaning the data</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-Creating new variables</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For exploratory data analysis</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a:t>
            </a:r>
            <a:endParaRPr sz="1200" dirty="0">
              <a:solidFill>
                <a:schemeClr val="lt1"/>
              </a:solidFill>
              <a:latin typeface="DM Sans Medium"/>
              <a:ea typeface="DM Sans Medium"/>
              <a:cs typeface="DM Sans Medium"/>
              <a:sym typeface="DM Sans Medium"/>
            </a:endParaRPr>
          </a:p>
        </p:txBody>
      </p:sp>
      <p:sp>
        <p:nvSpPr>
          <p:cNvPr id="492" name="Google Shape;492;p41"/>
          <p:cNvSpPr txBox="1"/>
          <p:nvPr/>
        </p:nvSpPr>
        <p:spPr>
          <a:xfrm flipH="1">
            <a:off x="6600399"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Performing Exploratory data analysis. </a:t>
            </a:r>
          </a:p>
        </p:txBody>
      </p:sp>
      <p:cxnSp>
        <p:nvCxnSpPr>
          <p:cNvPr id="493" name="Google Shape;493;p41"/>
          <p:cNvCxnSpPr>
            <a:stCxn id="494" idx="6"/>
            <a:endCxn id="495" idx="2"/>
          </p:cNvCxnSpPr>
          <p:nvPr/>
        </p:nvCxnSpPr>
        <p:spPr>
          <a:xfrm>
            <a:off x="4659199" y="1440150"/>
            <a:ext cx="2767500" cy="0"/>
          </a:xfrm>
          <a:prstGeom prst="straightConnector1">
            <a:avLst/>
          </a:prstGeom>
          <a:noFill/>
          <a:ln w="9525" cap="flat" cmpd="sng">
            <a:solidFill>
              <a:schemeClr val="accent3"/>
            </a:solidFill>
            <a:prstDash val="solid"/>
            <a:round/>
            <a:headEnd type="none" w="med" len="med"/>
            <a:tailEnd type="none" w="med" len="med"/>
          </a:ln>
        </p:spPr>
      </p:cxnSp>
      <p:cxnSp>
        <p:nvCxnSpPr>
          <p:cNvPr id="496" name="Google Shape;496;p41"/>
          <p:cNvCxnSpPr>
            <a:cxnSpLocks/>
            <a:stCxn id="497" idx="4"/>
            <a:endCxn id="490" idx="0"/>
          </p:cNvCxnSpPr>
          <p:nvPr/>
        </p:nvCxnSpPr>
        <p:spPr>
          <a:xfrm flipH="1">
            <a:off x="1623099" y="1528350"/>
            <a:ext cx="4100" cy="248823"/>
          </a:xfrm>
          <a:prstGeom prst="straightConnector1">
            <a:avLst/>
          </a:prstGeom>
          <a:noFill/>
          <a:ln w="9525" cap="flat" cmpd="sng">
            <a:solidFill>
              <a:schemeClr val="accent3"/>
            </a:solidFill>
            <a:prstDash val="solid"/>
            <a:round/>
            <a:headEnd type="none" w="med" len="med"/>
            <a:tailEnd type="none" w="med" len="med"/>
          </a:ln>
        </p:spPr>
      </p:cxnSp>
      <p:cxnSp>
        <p:nvCxnSpPr>
          <p:cNvPr id="498" name="Google Shape;498;p41"/>
          <p:cNvCxnSpPr>
            <a:stCxn id="495" idx="4"/>
            <a:endCxn id="492" idx="0"/>
          </p:cNvCxnSpPr>
          <p:nvPr/>
        </p:nvCxnSpPr>
        <p:spPr>
          <a:xfrm>
            <a:off x="7514799" y="1528350"/>
            <a:ext cx="0" cy="334200"/>
          </a:xfrm>
          <a:prstGeom prst="straightConnector1">
            <a:avLst/>
          </a:prstGeom>
          <a:noFill/>
          <a:ln w="9525" cap="flat" cmpd="sng">
            <a:solidFill>
              <a:schemeClr val="accent3"/>
            </a:solidFill>
            <a:prstDash val="solid"/>
            <a:round/>
            <a:headEnd type="none" w="med" len="med"/>
            <a:tailEnd type="none" w="med" len="med"/>
          </a:ln>
        </p:spPr>
      </p:cxnSp>
      <p:sp>
        <p:nvSpPr>
          <p:cNvPr id="499" name="Google Shape;499;p41"/>
          <p:cNvSpPr txBox="1"/>
          <p:nvPr/>
        </p:nvSpPr>
        <p:spPr>
          <a:xfrm flipH="1">
            <a:off x="2182601" y="3855012"/>
            <a:ext cx="1828800" cy="97358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Choosing data mining methods </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Applying data mining methods</a:t>
            </a:r>
          </a:p>
        </p:txBody>
      </p:sp>
      <p:cxnSp>
        <p:nvCxnSpPr>
          <p:cNvPr id="500" name="Google Shape;500;p41"/>
          <p:cNvCxnSpPr>
            <a:cxnSpLocks/>
            <a:stCxn id="494" idx="4"/>
            <a:endCxn id="491" idx="0"/>
          </p:cNvCxnSpPr>
          <p:nvPr/>
        </p:nvCxnSpPr>
        <p:spPr>
          <a:xfrm flipH="1">
            <a:off x="4568949" y="1528350"/>
            <a:ext cx="2050" cy="98775"/>
          </a:xfrm>
          <a:prstGeom prst="straightConnector1">
            <a:avLst/>
          </a:prstGeom>
          <a:noFill/>
          <a:ln w="9525" cap="flat" cmpd="sng">
            <a:solidFill>
              <a:schemeClr val="accent3"/>
            </a:solidFill>
            <a:prstDash val="solid"/>
            <a:round/>
            <a:headEnd type="none" w="med" len="med"/>
            <a:tailEnd type="none" w="med" len="med"/>
          </a:ln>
        </p:spPr>
      </p:cxnSp>
      <p:sp>
        <p:nvSpPr>
          <p:cNvPr id="501" name="Google Shape;501;p41"/>
          <p:cNvSpPr txBox="1"/>
          <p:nvPr/>
        </p:nvSpPr>
        <p:spPr>
          <a:xfrm flipH="1">
            <a:off x="5132601" y="3697025"/>
            <a:ext cx="1828800" cy="125599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Evaluating the Performances and choosing the best model</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 Conclusions/</a:t>
            </a:r>
          </a:p>
          <a:p>
            <a:pPr marL="0" lvl="0" indent="0" algn="ctr" rtl="0">
              <a:spcBef>
                <a:spcPts val="0"/>
              </a:spcBef>
              <a:spcAft>
                <a:spcPts val="0"/>
              </a:spcAft>
              <a:buNone/>
            </a:pPr>
            <a:r>
              <a:rPr lang="en-US" sz="1200" dirty="0">
                <a:solidFill>
                  <a:schemeClr val="lt1"/>
                </a:solidFill>
                <a:latin typeface="DM Sans Medium"/>
                <a:ea typeface="DM Sans Medium"/>
                <a:cs typeface="DM Sans Medium"/>
                <a:sym typeface="DM Sans Medium"/>
              </a:rPr>
              <a:t>Recommendations</a:t>
            </a:r>
            <a:endParaRPr sz="1200" dirty="0">
              <a:solidFill>
                <a:schemeClr val="lt1"/>
              </a:solidFill>
              <a:latin typeface="DM Sans Medium"/>
              <a:ea typeface="DM Sans Medium"/>
              <a:cs typeface="DM Sans Medium"/>
              <a:sym typeface="DM Sans Medium"/>
            </a:endParaRPr>
          </a:p>
        </p:txBody>
      </p:sp>
      <p:cxnSp>
        <p:nvCxnSpPr>
          <p:cNvPr id="502" name="Google Shape;502;p41"/>
          <p:cNvCxnSpPr>
            <a:cxnSpLocks/>
            <a:stCxn id="503" idx="4"/>
            <a:endCxn id="499" idx="0"/>
          </p:cNvCxnSpPr>
          <p:nvPr/>
        </p:nvCxnSpPr>
        <p:spPr>
          <a:xfrm flipH="1">
            <a:off x="3097001" y="3547120"/>
            <a:ext cx="2098" cy="307892"/>
          </a:xfrm>
          <a:prstGeom prst="straightConnector1">
            <a:avLst/>
          </a:prstGeom>
          <a:noFill/>
          <a:ln w="9525" cap="flat" cmpd="sng">
            <a:solidFill>
              <a:schemeClr val="accent3"/>
            </a:solidFill>
            <a:prstDash val="solid"/>
            <a:round/>
            <a:headEnd type="none" w="med" len="med"/>
            <a:tailEnd type="none" w="med" len="med"/>
          </a:ln>
        </p:spPr>
      </p:cxnSp>
      <p:cxnSp>
        <p:nvCxnSpPr>
          <p:cNvPr id="504" name="Google Shape;504;p41"/>
          <p:cNvCxnSpPr>
            <a:cxnSpLocks/>
            <a:stCxn id="505" idx="4"/>
            <a:endCxn id="501" idx="0"/>
          </p:cNvCxnSpPr>
          <p:nvPr/>
        </p:nvCxnSpPr>
        <p:spPr>
          <a:xfrm>
            <a:off x="6046999" y="3547120"/>
            <a:ext cx="2" cy="149905"/>
          </a:xfrm>
          <a:prstGeom prst="straightConnector1">
            <a:avLst/>
          </a:prstGeom>
          <a:noFill/>
          <a:ln w="9525" cap="flat" cmpd="sng">
            <a:solidFill>
              <a:schemeClr val="accent3"/>
            </a:solidFill>
            <a:prstDash val="solid"/>
            <a:round/>
            <a:headEnd type="none" w="med" len="med"/>
            <a:tailEnd type="none" w="med" len="med"/>
          </a:ln>
        </p:spPr>
      </p:cxnSp>
      <p:sp>
        <p:nvSpPr>
          <p:cNvPr id="497" name="Google Shape;497;p41"/>
          <p:cNvSpPr/>
          <p:nvPr/>
        </p:nvSpPr>
        <p:spPr>
          <a:xfrm>
            <a:off x="1538999" y="1351950"/>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1"/>
          <p:cNvSpPr/>
          <p:nvPr/>
        </p:nvSpPr>
        <p:spPr>
          <a:xfrm>
            <a:off x="4482799" y="1351950"/>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1"/>
          <p:cNvSpPr/>
          <p:nvPr/>
        </p:nvSpPr>
        <p:spPr>
          <a:xfrm>
            <a:off x="7426599" y="1351950"/>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1"/>
          <p:cNvSpPr/>
          <p:nvPr/>
        </p:nvSpPr>
        <p:spPr>
          <a:xfrm>
            <a:off x="3010899" y="3370720"/>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1"/>
          <p:cNvSpPr/>
          <p:nvPr/>
        </p:nvSpPr>
        <p:spPr>
          <a:xfrm>
            <a:off x="5958799" y="3370720"/>
            <a:ext cx="176400" cy="17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6" name="Google Shape;506;p41"/>
          <p:cNvCxnSpPr>
            <a:stCxn id="497" idx="6"/>
            <a:endCxn id="494" idx="2"/>
          </p:cNvCxnSpPr>
          <p:nvPr/>
        </p:nvCxnSpPr>
        <p:spPr>
          <a:xfrm>
            <a:off x="1715399" y="1440150"/>
            <a:ext cx="2767500" cy="0"/>
          </a:xfrm>
          <a:prstGeom prst="straightConnector1">
            <a:avLst/>
          </a:prstGeom>
          <a:noFill/>
          <a:ln w="9525" cap="flat" cmpd="sng">
            <a:solidFill>
              <a:schemeClr val="accent3"/>
            </a:solidFill>
            <a:prstDash val="solid"/>
            <a:round/>
            <a:headEnd type="none" w="med" len="med"/>
            <a:tailEnd type="none" w="med" len="med"/>
          </a:ln>
        </p:spPr>
      </p:cxnSp>
      <p:cxnSp>
        <p:nvCxnSpPr>
          <p:cNvPr id="507" name="Google Shape;507;p41"/>
          <p:cNvCxnSpPr>
            <a:cxnSpLocks/>
          </p:cNvCxnSpPr>
          <p:nvPr/>
        </p:nvCxnSpPr>
        <p:spPr>
          <a:xfrm>
            <a:off x="3187299" y="3459785"/>
            <a:ext cx="2767500" cy="0"/>
          </a:xfrm>
          <a:prstGeom prst="straightConnector1">
            <a:avLst/>
          </a:prstGeom>
          <a:noFill/>
          <a:ln w="9525" cap="flat" cmpd="sng">
            <a:solidFill>
              <a:schemeClr val="accent3"/>
            </a:solidFill>
            <a:prstDash val="solid"/>
            <a:round/>
            <a:headEnd type="none" w="med" len="med"/>
            <a:tailEnd type="none" w="med" len="med"/>
          </a:ln>
        </p:spPr>
      </p:cxnSp>
      <p:cxnSp>
        <p:nvCxnSpPr>
          <p:cNvPr id="508" name="Google Shape;508;p41"/>
          <p:cNvCxnSpPr>
            <a:cxnSpLocks/>
          </p:cNvCxnSpPr>
          <p:nvPr/>
        </p:nvCxnSpPr>
        <p:spPr>
          <a:xfrm flipH="1">
            <a:off x="3185202" y="1637950"/>
            <a:ext cx="4592100" cy="1844100"/>
          </a:xfrm>
          <a:prstGeom prst="bentConnector5">
            <a:avLst>
              <a:gd name="adj1" fmla="val -17926"/>
              <a:gd name="adj2" fmla="val 76358"/>
              <a:gd name="adj3" fmla="val 149797"/>
            </a:avLst>
          </a:prstGeom>
          <a:noFill/>
          <a:ln w="9525" cap="flat" cmpd="sng">
            <a:solidFill>
              <a:schemeClr val="accent3"/>
            </a:solidFill>
            <a:prstDash val="solid"/>
            <a:round/>
            <a:headEnd type="none" w="med" len="med"/>
            <a:tailEnd type="none" w="med" len="med"/>
          </a:ln>
        </p:spPr>
      </p:cxnSp>
      <p:sp>
        <p:nvSpPr>
          <p:cNvPr id="25" name="TextBox 24">
            <a:extLst>
              <a:ext uri="{FF2B5EF4-FFF2-40B4-BE49-F238E27FC236}">
                <a16:creationId xmlns:a16="http://schemas.microsoft.com/office/drawing/2014/main" id="{5C8BB9B8-5AA0-1F30-FFD5-4A259A11B938}"/>
              </a:ext>
            </a:extLst>
          </p:cNvPr>
          <p:cNvSpPr txBox="1"/>
          <p:nvPr/>
        </p:nvSpPr>
        <p:spPr>
          <a:xfrm>
            <a:off x="457200" y="240224"/>
            <a:ext cx="340963" cy="307777"/>
          </a:xfrm>
          <a:prstGeom prst="rect">
            <a:avLst/>
          </a:prstGeom>
          <a:noFill/>
        </p:spPr>
        <p:txBody>
          <a:bodyPr wrap="square" rtlCol="0">
            <a:spAutoFit/>
          </a:bodyPr>
          <a:lstStyle/>
          <a:p>
            <a:r>
              <a:rPr lang="en-US"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65" name="Google Shape;365;p35"/>
          <p:cNvSpPr txBox="1">
            <a:spLocks noGrp="1"/>
          </p:cNvSpPr>
          <p:nvPr>
            <p:ph type="subTitle" idx="6"/>
          </p:nvPr>
        </p:nvSpPr>
        <p:spPr>
          <a:xfrm>
            <a:off x="3009489" y="339025"/>
            <a:ext cx="2585400"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These are the visuals of the data before cleaning the data</a:t>
            </a:r>
            <a:endParaRPr dirty="0"/>
          </a:p>
        </p:txBody>
      </p:sp>
      <p:pic>
        <p:nvPicPr>
          <p:cNvPr id="24" name="Picture 23">
            <a:extLst>
              <a:ext uri="{FF2B5EF4-FFF2-40B4-BE49-F238E27FC236}">
                <a16:creationId xmlns:a16="http://schemas.microsoft.com/office/drawing/2014/main" id="{CA339C67-F38C-6938-DE77-83B094F3600A}"/>
              </a:ext>
            </a:extLst>
          </p:cNvPr>
          <p:cNvPicPr>
            <a:picLocks noChangeAspect="1"/>
          </p:cNvPicPr>
          <p:nvPr/>
        </p:nvPicPr>
        <p:blipFill>
          <a:blip r:embed="rId3"/>
          <a:stretch>
            <a:fillRect/>
          </a:stretch>
        </p:blipFill>
        <p:spPr>
          <a:xfrm>
            <a:off x="379709" y="1162373"/>
            <a:ext cx="8369084" cy="3642102"/>
          </a:xfrm>
          <a:prstGeom prst="rect">
            <a:avLst/>
          </a:prstGeom>
        </p:spPr>
      </p:pic>
      <p:sp>
        <p:nvSpPr>
          <p:cNvPr id="25" name="TextBox 24">
            <a:extLst>
              <a:ext uri="{FF2B5EF4-FFF2-40B4-BE49-F238E27FC236}">
                <a16:creationId xmlns:a16="http://schemas.microsoft.com/office/drawing/2014/main" id="{F08B6672-80FB-9ADD-2E5D-118B503C5C4C}"/>
              </a:ext>
            </a:extLst>
          </p:cNvPr>
          <p:cNvSpPr txBox="1"/>
          <p:nvPr/>
        </p:nvSpPr>
        <p:spPr>
          <a:xfrm>
            <a:off x="449451" y="339025"/>
            <a:ext cx="395207" cy="307777"/>
          </a:xfrm>
          <a:prstGeom prst="rect">
            <a:avLst/>
          </a:prstGeom>
          <a:noFill/>
        </p:spPr>
        <p:txBody>
          <a:bodyPr wrap="square" rtlCol="0">
            <a:spAutoFit/>
          </a:bodyPr>
          <a:lstStyle/>
          <a:p>
            <a:r>
              <a:rPr lang="en-US"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2" name="Picture 1">
            <a:extLst>
              <a:ext uri="{FF2B5EF4-FFF2-40B4-BE49-F238E27FC236}">
                <a16:creationId xmlns:a16="http://schemas.microsoft.com/office/drawing/2014/main" id="{04B3CC14-AE90-7552-E465-334C2185B6C5}"/>
              </a:ext>
            </a:extLst>
          </p:cNvPr>
          <p:cNvPicPr>
            <a:picLocks noChangeAspect="1"/>
          </p:cNvPicPr>
          <p:nvPr/>
        </p:nvPicPr>
        <p:blipFill>
          <a:blip r:embed="rId3"/>
          <a:stretch>
            <a:fillRect/>
          </a:stretch>
        </p:blipFill>
        <p:spPr>
          <a:xfrm>
            <a:off x="1813302" y="1255363"/>
            <a:ext cx="5385661" cy="3533614"/>
          </a:xfrm>
          <a:prstGeom prst="rect">
            <a:avLst/>
          </a:prstGeom>
        </p:spPr>
      </p:pic>
      <p:sp>
        <p:nvSpPr>
          <p:cNvPr id="3" name="TextBox 2">
            <a:extLst>
              <a:ext uri="{FF2B5EF4-FFF2-40B4-BE49-F238E27FC236}">
                <a16:creationId xmlns:a16="http://schemas.microsoft.com/office/drawing/2014/main" id="{78A27D26-96CE-6E13-830A-4BC6724EF093}"/>
              </a:ext>
            </a:extLst>
          </p:cNvPr>
          <p:cNvSpPr txBox="1"/>
          <p:nvPr/>
        </p:nvSpPr>
        <p:spPr>
          <a:xfrm>
            <a:off x="3355383" y="354523"/>
            <a:ext cx="2069024" cy="738664"/>
          </a:xfrm>
          <a:prstGeom prst="rect">
            <a:avLst/>
          </a:prstGeom>
          <a:noFill/>
        </p:spPr>
        <p:txBody>
          <a:bodyPr wrap="square" rtlCol="0">
            <a:spAutoFit/>
          </a:bodyPr>
          <a:lstStyle/>
          <a:p>
            <a:pPr marL="0" lvl="0" indent="0" algn="ctr" rtl="0">
              <a:spcBef>
                <a:spcPts val="0"/>
              </a:spcBef>
              <a:spcAft>
                <a:spcPts val="0"/>
              </a:spcAft>
              <a:buNone/>
            </a:pPr>
            <a:r>
              <a:rPr lang="en-US" dirty="0"/>
              <a:t>These are the visuals of the data before cleaning the data</a:t>
            </a:r>
          </a:p>
        </p:txBody>
      </p:sp>
      <p:sp>
        <p:nvSpPr>
          <p:cNvPr id="4" name="TextBox 3">
            <a:extLst>
              <a:ext uri="{FF2B5EF4-FFF2-40B4-BE49-F238E27FC236}">
                <a16:creationId xmlns:a16="http://schemas.microsoft.com/office/drawing/2014/main" id="{B3324719-2766-D4E3-0C3C-B2AF51F08E5B}"/>
              </a:ext>
            </a:extLst>
          </p:cNvPr>
          <p:cNvSpPr txBox="1"/>
          <p:nvPr/>
        </p:nvSpPr>
        <p:spPr>
          <a:xfrm>
            <a:off x="519193" y="354523"/>
            <a:ext cx="581187" cy="307777"/>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452272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2" name="Picture 1">
            <a:extLst>
              <a:ext uri="{FF2B5EF4-FFF2-40B4-BE49-F238E27FC236}">
                <a16:creationId xmlns:a16="http://schemas.microsoft.com/office/drawing/2014/main" id="{783623D8-72FA-50C4-17BB-B5D887B6A08C}"/>
              </a:ext>
            </a:extLst>
          </p:cNvPr>
          <p:cNvPicPr>
            <a:picLocks noChangeAspect="1"/>
          </p:cNvPicPr>
          <p:nvPr/>
        </p:nvPicPr>
        <p:blipFill>
          <a:blip r:embed="rId3"/>
          <a:stretch>
            <a:fillRect/>
          </a:stretch>
        </p:blipFill>
        <p:spPr>
          <a:xfrm>
            <a:off x="1547893" y="1015139"/>
            <a:ext cx="6048214" cy="3789494"/>
          </a:xfrm>
          <a:prstGeom prst="rect">
            <a:avLst/>
          </a:prstGeom>
        </p:spPr>
      </p:pic>
      <p:sp>
        <p:nvSpPr>
          <p:cNvPr id="3" name="TextBox 2">
            <a:extLst>
              <a:ext uri="{FF2B5EF4-FFF2-40B4-BE49-F238E27FC236}">
                <a16:creationId xmlns:a16="http://schemas.microsoft.com/office/drawing/2014/main" id="{FCBB275C-DB4D-E8A1-8A7D-8FBE3782C1E2}"/>
              </a:ext>
            </a:extLst>
          </p:cNvPr>
          <p:cNvSpPr txBox="1"/>
          <p:nvPr/>
        </p:nvSpPr>
        <p:spPr>
          <a:xfrm>
            <a:off x="3285640" y="338867"/>
            <a:ext cx="2216258" cy="738664"/>
          </a:xfrm>
          <a:prstGeom prst="rect">
            <a:avLst/>
          </a:prstGeom>
          <a:noFill/>
        </p:spPr>
        <p:txBody>
          <a:bodyPr wrap="square" rtlCol="0">
            <a:spAutoFit/>
          </a:bodyPr>
          <a:lstStyle/>
          <a:p>
            <a:pPr marL="0" lvl="0" indent="0" algn="ctr" rtl="0">
              <a:spcBef>
                <a:spcPts val="0"/>
              </a:spcBef>
              <a:spcAft>
                <a:spcPts val="0"/>
              </a:spcAft>
              <a:buNone/>
            </a:pPr>
            <a:r>
              <a:rPr lang="en-US" dirty="0"/>
              <a:t>These are the visuals of the data before cleaning the data</a:t>
            </a:r>
          </a:p>
        </p:txBody>
      </p:sp>
      <p:sp>
        <p:nvSpPr>
          <p:cNvPr id="5" name="TextBox 4">
            <a:extLst>
              <a:ext uri="{FF2B5EF4-FFF2-40B4-BE49-F238E27FC236}">
                <a16:creationId xmlns:a16="http://schemas.microsoft.com/office/drawing/2014/main" id="{132C832B-E78C-3B29-F9E7-07A1DE1BAEBE}"/>
              </a:ext>
            </a:extLst>
          </p:cNvPr>
          <p:cNvSpPr txBox="1"/>
          <p:nvPr/>
        </p:nvSpPr>
        <p:spPr>
          <a:xfrm>
            <a:off x="335151" y="338867"/>
            <a:ext cx="4575874" cy="307777"/>
          </a:xfrm>
          <a:prstGeom prst="rect">
            <a:avLst/>
          </a:prstGeom>
          <a:noFill/>
        </p:spPr>
        <p:txBody>
          <a:bodyPr wrap="square">
            <a:spAutoFit/>
          </a:bodyPr>
          <a:lstStyle/>
          <a:p>
            <a:r>
              <a:rPr lang="en-US" dirty="0"/>
              <a:t>11.</a:t>
            </a:r>
          </a:p>
        </p:txBody>
      </p:sp>
    </p:spTree>
    <p:extLst>
      <p:ext uri="{BB962C8B-B14F-4D97-AF65-F5344CB8AC3E}">
        <p14:creationId xmlns:p14="http://schemas.microsoft.com/office/powerpoint/2010/main" val="1202888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2" name="Picture 1">
            <a:extLst>
              <a:ext uri="{FF2B5EF4-FFF2-40B4-BE49-F238E27FC236}">
                <a16:creationId xmlns:a16="http://schemas.microsoft.com/office/drawing/2014/main" id="{A1A0A417-072C-6809-CA76-EA025ED32301}"/>
              </a:ext>
            </a:extLst>
          </p:cNvPr>
          <p:cNvPicPr>
            <a:picLocks noChangeAspect="1"/>
          </p:cNvPicPr>
          <p:nvPr/>
        </p:nvPicPr>
        <p:blipFill>
          <a:blip r:embed="rId3"/>
          <a:stretch>
            <a:fillRect/>
          </a:stretch>
        </p:blipFill>
        <p:spPr>
          <a:xfrm>
            <a:off x="1596325" y="1069383"/>
            <a:ext cx="5889356" cy="3696504"/>
          </a:xfrm>
          <a:prstGeom prst="rect">
            <a:avLst/>
          </a:prstGeom>
        </p:spPr>
      </p:pic>
      <p:sp>
        <p:nvSpPr>
          <p:cNvPr id="3" name="TextBox 2">
            <a:extLst>
              <a:ext uri="{FF2B5EF4-FFF2-40B4-BE49-F238E27FC236}">
                <a16:creationId xmlns:a16="http://schemas.microsoft.com/office/drawing/2014/main" id="{8F057ACE-9473-B21E-F077-CDC54B5DD180}"/>
              </a:ext>
            </a:extLst>
          </p:cNvPr>
          <p:cNvSpPr txBox="1"/>
          <p:nvPr/>
        </p:nvSpPr>
        <p:spPr>
          <a:xfrm>
            <a:off x="3432874" y="377613"/>
            <a:ext cx="2216258" cy="738664"/>
          </a:xfrm>
          <a:prstGeom prst="rect">
            <a:avLst/>
          </a:prstGeom>
          <a:noFill/>
        </p:spPr>
        <p:txBody>
          <a:bodyPr wrap="square" rtlCol="0">
            <a:spAutoFit/>
          </a:bodyPr>
          <a:lstStyle/>
          <a:p>
            <a:pPr marL="0" lvl="0" indent="0" algn="ctr" rtl="0">
              <a:spcBef>
                <a:spcPts val="0"/>
              </a:spcBef>
              <a:spcAft>
                <a:spcPts val="0"/>
              </a:spcAft>
              <a:buNone/>
            </a:pPr>
            <a:r>
              <a:rPr lang="en-US" dirty="0"/>
              <a:t>These are the visuals of the data before cleaning the data</a:t>
            </a:r>
          </a:p>
        </p:txBody>
      </p:sp>
      <p:sp>
        <p:nvSpPr>
          <p:cNvPr id="5" name="TextBox 4">
            <a:extLst>
              <a:ext uri="{FF2B5EF4-FFF2-40B4-BE49-F238E27FC236}">
                <a16:creationId xmlns:a16="http://schemas.microsoft.com/office/drawing/2014/main" id="{35F60324-A420-2B29-D3F9-AC0BD7563B5F}"/>
              </a:ext>
            </a:extLst>
          </p:cNvPr>
          <p:cNvSpPr txBox="1"/>
          <p:nvPr/>
        </p:nvSpPr>
        <p:spPr>
          <a:xfrm>
            <a:off x="451387" y="377613"/>
            <a:ext cx="4575874" cy="307777"/>
          </a:xfrm>
          <a:prstGeom prst="rect">
            <a:avLst/>
          </a:prstGeom>
          <a:noFill/>
        </p:spPr>
        <p:txBody>
          <a:bodyPr wrap="square">
            <a:spAutoFit/>
          </a:bodyPr>
          <a:lstStyle/>
          <a:p>
            <a:r>
              <a:rPr lang="en-US" dirty="0"/>
              <a:t>12.</a:t>
            </a:r>
          </a:p>
        </p:txBody>
      </p:sp>
    </p:spTree>
    <p:extLst>
      <p:ext uri="{BB962C8B-B14F-4D97-AF65-F5344CB8AC3E}">
        <p14:creationId xmlns:p14="http://schemas.microsoft.com/office/powerpoint/2010/main" val="569330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4" name="Picture 3">
            <a:extLst>
              <a:ext uri="{FF2B5EF4-FFF2-40B4-BE49-F238E27FC236}">
                <a16:creationId xmlns:a16="http://schemas.microsoft.com/office/drawing/2014/main" id="{4754C730-7594-B272-50D4-1E9E0C09B094}"/>
              </a:ext>
            </a:extLst>
          </p:cNvPr>
          <p:cNvPicPr>
            <a:picLocks noChangeAspect="1"/>
          </p:cNvPicPr>
          <p:nvPr/>
        </p:nvPicPr>
        <p:blipFill>
          <a:blip r:embed="rId3"/>
          <a:stretch>
            <a:fillRect/>
          </a:stretch>
        </p:blipFill>
        <p:spPr>
          <a:xfrm>
            <a:off x="1286359" y="1061634"/>
            <a:ext cx="6455045" cy="3696345"/>
          </a:xfrm>
          <a:prstGeom prst="rect">
            <a:avLst/>
          </a:prstGeom>
        </p:spPr>
      </p:pic>
      <p:sp>
        <p:nvSpPr>
          <p:cNvPr id="6" name="TextBox 5">
            <a:extLst>
              <a:ext uri="{FF2B5EF4-FFF2-40B4-BE49-F238E27FC236}">
                <a16:creationId xmlns:a16="http://schemas.microsoft.com/office/drawing/2014/main" id="{A036A97E-614D-9752-CC61-BB9ABF7CF483}"/>
              </a:ext>
            </a:extLst>
          </p:cNvPr>
          <p:cNvSpPr txBox="1"/>
          <p:nvPr/>
        </p:nvSpPr>
        <p:spPr>
          <a:xfrm>
            <a:off x="3432874" y="377613"/>
            <a:ext cx="2216258" cy="738664"/>
          </a:xfrm>
          <a:prstGeom prst="rect">
            <a:avLst/>
          </a:prstGeom>
          <a:noFill/>
        </p:spPr>
        <p:txBody>
          <a:bodyPr wrap="square" rtlCol="0">
            <a:spAutoFit/>
          </a:bodyPr>
          <a:lstStyle/>
          <a:p>
            <a:pPr marL="0" lvl="0" indent="0" algn="ctr" rtl="0">
              <a:spcBef>
                <a:spcPts val="0"/>
              </a:spcBef>
              <a:spcAft>
                <a:spcPts val="0"/>
              </a:spcAft>
              <a:buNone/>
            </a:pPr>
            <a:r>
              <a:rPr lang="en-US" dirty="0"/>
              <a:t>These are the visuals of the data before cleaning the data</a:t>
            </a:r>
          </a:p>
        </p:txBody>
      </p:sp>
      <p:sp>
        <p:nvSpPr>
          <p:cNvPr id="8" name="TextBox 7">
            <a:extLst>
              <a:ext uri="{FF2B5EF4-FFF2-40B4-BE49-F238E27FC236}">
                <a16:creationId xmlns:a16="http://schemas.microsoft.com/office/drawing/2014/main" id="{79E46084-B2C8-13AA-BDF2-D18B7B295C60}"/>
              </a:ext>
            </a:extLst>
          </p:cNvPr>
          <p:cNvSpPr txBox="1"/>
          <p:nvPr/>
        </p:nvSpPr>
        <p:spPr>
          <a:xfrm>
            <a:off x="358398" y="314936"/>
            <a:ext cx="4575874" cy="307777"/>
          </a:xfrm>
          <a:prstGeom prst="rect">
            <a:avLst/>
          </a:prstGeom>
          <a:noFill/>
        </p:spPr>
        <p:txBody>
          <a:bodyPr wrap="square">
            <a:spAutoFit/>
          </a:bodyPr>
          <a:lstStyle/>
          <a:p>
            <a:r>
              <a:rPr lang="en-US" dirty="0"/>
              <a:t>13.</a:t>
            </a:r>
          </a:p>
        </p:txBody>
      </p:sp>
    </p:spTree>
    <p:extLst>
      <p:ext uri="{BB962C8B-B14F-4D97-AF65-F5344CB8AC3E}">
        <p14:creationId xmlns:p14="http://schemas.microsoft.com/office/powerpoint/2010/main" val="1956954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37"/>
          <p:cNvPicPr preferRelativeResize="0">
            <a:picLocks noGrp="1"/>
          </p:cNvPicPr>
          <p:nvPr>
            <p:ph type="pic" idx="2"/>
          </p:nvPr>
        </p:nvPicPr>
        <p:blipFill rotWithShape="1">
          <a:blip r:embed="rId3">
            <a:alphaModFix/>
          </a:blip>
          <a:srcRect t="9035" b="9043"/>
          <a:stretch/>
        </p:blipFill>
        <p:spPr>
          <a:xfrm>
            <a:off x="573805" y="2413000"/>
            <a:ext cx="7909500" cy="4325100"/>
          </a:xfrm>
          <a:prstGeom prst="roundRect">
            <a:avLst>
              <a:gd name="adj" fmla="val 16667"/>
            </a:avLst>
          </a:prstGeom>
        </p:spPr>
      </p:pic>
      <p:grpSp>
        <p:nvGrpSpPr>
          <p:cNvPr id="391" name="Google Shape;391;p37"/>
          <p:cNvGrpSpPr/>
          <p:nvPr/>
        </p:nvGrpSpPr>
        <p:grpSpPr>
          <a:xfrm>
            <a:off x="1140613" y="2571738"/>
            <a:ext cx="6862675" cy="5057403"/>
            <a:chOff x="845650" y="2922338"/>
            <a:chExt cx="6862675" cy="5057403"/>
          </a:xfrm>
        </p:grpSpPr>
        <p:sp>
          <p:nvSpPr>
            <p:cNvPr id="392" name="Google Shape;392;p37"/>
            <p:cNvSpPr/>
            <p:nvPr/>
          </p:nvSpPr>
          <p:spPr>
            <a:xfrm rot="5400000">
              <a:off x="7494125" y="2922338"/>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7"/>
            <p:cNvSpPr/>
            <p:nvPr/>
          </p:nvSpPr>
          <p:spPr>
            <a:xfrm rot="5400000">
              <a:off x="845650" y="2922338"/>
              <a:ext cx="214200" cy="214200"/>
            </a:xfrm>
            <a:prstGeom prst="plaqu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7"/>
            <p:cNvSpPr/>
            <p:nvPr/>
          </p:nvSpPr>
          <p:spPr>
            <a:xfrm rot="5400000">
              <a:off x="1748292" y="2019708"/>
              <a:ext cx="5057390" cy="6862673"/>
            </a:xfrm>
            <a:custGeom>
              <a:avLst/>
              <a:gdLst/>
              <a:ahLst/>
              <a:cxnLst/>
              <a:rect l="l" t="t" r="r" b="b"/>
              <a:pathLst>
                <a:path w="89231" h="121254" fill="none" extrusionOk="0">
                  <a:moveTo>
                    <a:pt x="83781" y="121254"/>
                  </a:moveTo>
                  <a:lnTo>
                    <a:pt x="5451" y="121254"/>
                  </a:lnTo>
                  <a:cubicBezTo>
                    <a:pt x="5451" y="118243"/>
                    <a:pt x="3010" y="115803"/>
                    <a:pt x="0" y="115803"/>
                  </a:cubicBezTo>
                  <a:lnTo>
                    <a:pt x="0" y="5450"/>
                  </a:lnTo>
                  <a:cubicBezTo>
                    <a:pt x="3010" y="5450"/>
                    <a:pt x="5451" y="3009"/>
                    <a:pt x="5451" y="0"/>
                  </a:cubicBezTo>
                  <a:lnTo>
                    <a:pt x="83781" y="0"/>
                  </a:lnTo>
                  <a:cubicBezTo>
                    <a:pt x="83781" y="3009"/>
                    <a:pt x="86221" y="5450"/>
                    <a:pt x="89231" y="5450"/>
                  </a:cubicBezTo>
                  <a:lnTo>
                    <a:pt x="89231" y="115803"/>
                  </a:lnTo>
                  <a:cubicBezTo>
                    <a:pt x="86221" y="115803"/>
                    <a:pt x="83781" y="118242"/>
                    <a:pt x="83781" y="121254"/>
                  </a:cubicBezTo>
                  <a:close/>
                </a:path>
              </a:pathLst>
            </a:custGeom>
            <a:noFill/>
            <a:ln w="9525" cap="flat" cmpd="sng">
              <a:solidFill>
                <a:schemeClr val="accent3"/>
              </a:solidFill>
              <a:prstDash val="solid"/>
              <a:miter lim="103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96C13278-2ECA-12A8-DA4B-76AC1D5CF18E}"/>
              </a:ext>
            </a:extLst>
          </p:cNvPr>
          <p:cNvSpPr txBox="1"/>
          <p:nvPr/>
        </p:nvSpPr>
        <p:spPr>
          <a:xfrm>
            <a:off x="765150" y="763966"/>
            <a:ext cx="7718155" cy="1384995"/>
          </a:xfrm>
          <a:prstGeom prst="rect">
            <a:avLst/>
          </a:prstGeom>
          <a:noFill/>
        </p:spPr>
        <p:txBody>
          <a:bodyPr wrap="square">
            <a:spAutoFit/>
          </a:bodyPr>
          <a:lstStyle/>
          <a:p>
            <a:pPr marL="0" lvl="0" indent="0" algn="ctr" rtl="0">
              <a:spcBef>
                <a:spcPts val="0"/>
              </a:spcBef>
              <a:spcAft>
                <a:spcPts val="0"/>
              </a:spcAft>
              <a:buNone/>
            </a:pPr>
            <a:r>
              <a:rPr lang="en-US" sz="2800" dirty="0">
                <a:solidFill>
                  <a:schemeClr val="accent4"/>
                </a:solidFill>
              </a:rPr>
              <a:t>Next, we will be seeing the new visuals that we got after removing outliers and cleaning the data. </a:t>
            </a:r>
          </a:p>
        </p:txBody>
      </p:sp>
      <p:sp>
        <p:nvSpPr>
          <p:cNvPr id="9" name="TextBox 8">
            <a:extLst>
              <a:ext uri="{FF2B5EF4-FFF2-40B4-BE49-F238E27FC236}">
                <a16:creationId xmlns:a16="http://schemas.microsoft.com/office/drawing/2014/main" id="{613B11B7-842B-44A0-9F5F-1185E7431C7F}"/>
              </a:ext>
            </a:extLst>
          </p:cNvPr>
          <p:cNvSpPr txBox="1"/>
          <p:nvPr/>
        </p:nvSpPr>
        <p:spPr>
          <a:xfrm>
            <a:off x="338946" y="376814"/>
            <a:ext cx="4575874" cy="307777"/>
          </a:xfrm>
          <a:prstGeom prst="rect">
            <a:avLst/>
          </a:prstGeom>
          <a:noFill/>
        </p:spPr>
        <p:txBody>
          <a:bodyPr wrap="square">
            <a:spAutoFit/>
          </a:bodyPr>
          <a:lstStyle/>
          <a:p>
            <a:r>
              <a:rPr lang="en-US" dirty="0"/>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4" name="Picture 3">
            <a:extLst>
              <a:ext uri="{FF2B5EF4-FFF2-40B4-BE49-F238E27FC236}">
                <a16:creationId xmlns:a16="http://schemas.microsoft.com/office/drawing/2014/main" id="{142984CF-412F-B5F8-AA78-C8236BA474D9}"/>
              </a:ext>
            </a:extLst>
          </p:cNvPr>
          <p:cNvPicPr>
            <a:picLocks noChangeAspect="1"/>
          </p:cNvPicPr>
          <p:nvPr/>
        </p:nvPicPr>
        <p:blipFill>
          <a:blip r:embed="rId3"/>
          <a:stretch>
            <a:fillRect/>
          </a:stretch>
        </p:blipFill>
        <p:spPr>
          <a:xfrm>
            <a:off x="1032574" y="617668"/>
            <a:ext cx="7078851" cy="4225627"/>
          </a:xfrm>
          <a:prstGeom prst="rect">
            <a:avLst/>
          </a:prstGeom>
        </p:spPr>
      </p:pic>
      <p:sp>
        <p:nvSpPr>
          <p:cNvPr id="6" name="TextBox 5">
            <a:extLst>
              <a:ext uri="{FF2B5EF4-FFF2-40B4-BE49-F238E27FC236}">
                <a16:creationId xmlns:a16="http://schemas.microsoft.com/office/drawing/2014/main" id="{87D44425-69B3-7B9C-744B-A61A447DB21B}"/>
              </a:ext>
            </a:extLst>
          </p:cNvPr>
          <p:cNvSpPr txBox="1"/>
          <p:nvPr/>
        </p:nvSpPr>
        <p:spPr>
          <a:xfrm>
            <a:off x="335151" y="309891"/>
            <a:ext cx="4575874" cy="307777"/>
          </a:xfrm>
          <a:prstGeom prst="rect">
            <a:avLst/>
          </a:prstGeom>
          <a:noFill/>
        </p:spPr>
        <p:txBody>
          <a:bodyPr wrap="square">
            <a:spAutoFit/>
          </a:bodyPr>
          <a:lstStyle/>
          <a:p>
            <a:r>
              <a:rPr lang="en-US" dirty="0"/>
              <a:t>15.</a:t>
            </a:r>
          </a:p>
        </p:txBody>
      </p:sp>
    </p:spTree>
    <p:extLst>
      <p:ext uri="{BB962C8B-B14F-4D97-AF65-F5344CB8AC3E}">
        <p14:creationId xmlns:p14="http://schemas.microsoft.com/office/powerpoint/2010/main" val="214890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2" name="Picture 1">
            <a:extLst>
              <a:ext uri="{FF2B5EF4-FFF2-40B4-BE49-F238E27FC236}">
                <a16:creationId xmlns:a16="http://schemas.microsoft.com/office/drawing/2014/main" id="{B3F40920-BFFD-2622-7A45-E5986AF603F0}"/>
              </a:ext>
            </a:extLst>
          </p:cNvPr>
          <p:cNvPicPr>
            <a:picLocks noChangeAspect="1"/>
          </p:cNvPicPr>
          <p:nvPr/>
        </p:nvPicPr>
        <p:blipFill>
          <a:blip r:embed="rId3"/>
          <a:stretch>
            <a:fillRect/>
          </a:stretch>
        </p:blipFill>
        <p:spPr>
          <a:xfrm>
            <a:off x="833033" y="457201"/>
            <a:ext cx="7772400" cy="4392058"/>
          </a:xfrm>
          <a:prstGeom prst="rect">
            <a:avLst/>
          </a:prstGeom>
        </p:spPr>
      </p:pic>
      <p:sp>
        <p:nvSpPr>
          <p:cNvPr id="4" name="TextBox 3">
            <a:extLst>
              <a:ext uri="{FF2B5EF4-FFF2-40B4-BE49-F238E27FC236}">
                <a16:creationId xmlns:a16="http://schemas.microsoft.com/office/drawing/2014/main" id="{6E86EBD7-6EED-A909-390D-9105B9A23BE1}"/>
              </a:ext>
            </a:extLst>
          </p:cNvPr>
          <p:cNvSpPr txBox="1"/>
          <p:nvPr/>
        </p:nvSpPr>
        <p:spPr>
          <a:xfrm>
            <a:off x="280906" y="294241"/>
            <a:ext cx="4575874" cy="307777"/>
          </a:xfrm>
          <a:prstGeom prst="rect">
            <a:avLst/>
          </a:prstGeom>
          <a:noFill/>
        </p:spPr>
        <p:txBody>
          <a:bodyPr wrap="square">
            <a:spAutoFit/>
          </a:bodyPr>
          <a:lstStyle/>
          <a:p>
            <a:r>
              <a:rPr lang="en-US" dirty="0"/>
              <a:t>16.</a:t>
            </a:r>
          </a:p>
        </p:txBody>
      </p:sp>
    </p:spTree>
    <p:extLst>
      <p:ext uri="{BB962C8B-B14F-4D97-AF65-F5344CB8AC3E}">
        <p14:creationId xmlns:p14="http://schemas.microsoft.com/office/powerpoint/2010/main" val="1924241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2" name="Picture 1">
            <a:extLst>
              <a:ext uri="{FF2B5EF4-FFF2-40B4-BE49-F238E27FC236}">
                <a16:creationId xmlns:a16="http://schemas.microsoft.com/office/drawing/2014/main" id="{FD48012F-84A3-7504-910C-EA4576E4F837}"/>
              </a:ext>
            </a:extLst>
          </p:cNvPr>
          <p:cNvPicPr>
            <a:picLocks noChangeAspect="1"/>
          </p:cNvPicPr>
          <p:nvPr/>
        </p:nvPicPr>
        <p:blipFill>
          <a:blip r:embed="rId3"/>
          <a:stretch>
            <a:fillRect/>
          </a:stretch>
        </p:blipFill>
        <p:spPr>
          <a:xfrm>
            <a:off x="1906291" y="1297170"/>
            <a:ext cx="4711485" cy="3544113"/>
          </a:xfrm>
          <a:prstGeom prst="rect">
            <a:avLst/>
          </a:prstGeom>
        </p:spPr>
      </p:pic>
      <p:sp>
        <p:nvSpPr>
          <p:cNvPr id="3" name="TextBox 2">
            <a:extLst>
              <a:ext uri="{FF2B5EF4-FFF2-40B4-BE49-F238E27FC236}">
                <a16:creationId xmlns:a16="http://schemas.microsoft.com/office/drawing/2014/main" id="{A2C01857-FB04-9574-21F6-FE9D92081944}"/>
              </a:ext>
            </a:extLst>
          </p:cNvPr>
          <p:cNvSpPr txBox="1"/>
          <p:nvPr/>
        </p:nvSpPr>
        <p:spPr>
          <a:xfrm>
            <a:off x="290593" y="317715"/>
            <a:ext cx="8562814" cy="738664"/>
          </a:xfrm>
          <a:prstGeom prst="rect">
            <a:avLst/>
          </a:prstGeom>
          <a:noFill/>
        </p:spPr>
        <p:txBody>
          <a:bodyPr wrap="square" rtlCol="0">
            <a:spAutoFit/>
          </a:bodyPr>
          <a:lstStyle/>
          <a:p>
            <a:r>
              <a:rPr lang="en-US" dirty="0">
                <a:solidFill>
                  <a:schemeClr val="accent4"/>
                </a:solidFill>
              </a:rPr>
              <a:t>The variable's Brand names have inappropriate values which are just blank. so for Brand, we have made it into a binary by making observations that have a brand name as 1 and no brand name as 0 </a:t>
            </a:r>
          </a:p>
          <a:p>
            <a:endParaRPr lang="en-US" dirty="0">
              <a:solidFill>
                <a:schemeClr val="accent4"/>
              </a:solidFill>
            </a:endParaRPr>
          </a:p>
        </p:txBody>
      </p:sp>
      <p:sp>
        <p:nvSpPr>
          <p:cNvPr id="5" name="TextBox 4">
            <a:extLst>
              <a:ext uri="{FF2B5EF4-FFF2-40B4-BE49-F238E27FC236}">
                <a16:creationId xmlns:a16="http://schemas.microsoft.com/office/drawing/2014/main" id="{7714A300-6426-0BB2-D78B-81DBBC483A5B}"/>
              </a:ext>
            </a:extLst>
          </p:cNvPr>
          <p:cNvSpPr txBox="1"/>
          <p:nvPr/>
        </p:nvSpPr>
        <p:spPr>
          <a:xfrm>
            <a:off x="-3874" y="9938"/>
            <a:ext cx="4575874" cy="307777"/>
          </a:xfrm>
          <a:prstGeom prst="rect">
            <a:avLst/>
          </a:prstGeom>
          <a:noFill/>
        </p:spPr>
        <p:txBody>
          <a:bodyPr wrap="square">
            <a:spAutoFit/>
          </a:bodyPr>
          <a:lstStyle/>
          <a:p>
            <a:r>
              <a:rPr lang="en-US" dirty="0"/>
              <a:t>17.</a:t>
            </a:r>
          </a:p>
        </p:txBody>
      </p:sp>
    </p:spTree>
    <p:extLst>
      <p:ext uri="{BB962C8B-B14F-4D97-AF65-F5344CB8AC3E}">
        <p14:creationId xmlns:p14="http://schemas.microsoft.com/office/powerpoint/2010/main" val="2125087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5" name="TextBox 4">
            <a:extLst>
              <a:ext uri="{FF2B5EF4-FFF2-40B4-BE49-F238E27FC236}">
                <a16:creationId xmlns:a16="http://schemas.microsoft.com/office/drawing/2014/main" id="{99F7178D-E05B-8846-8685-A4119033F545}"/>
              </a:ext>
            </a:extLst>
          </p:cNvPr>
          <p:cNvSpPr txBox="1"/>
          <p:nvPr/>
        </p:nvSpPr>
        <p:spPr>
          <a:xfrm>
            <a:off x="342900" y="228076"/>
            <a:ext cx="4575874" cy="1815882"/>
          </a:xfrm>
          <a:prstGeom prst="rect">
            <a:avLst/>
          </a:prstGeom>
          <a:noFill/>
        </p:spPr>
        <p:txBody>
          <a:bodyPr wrap="square">
            <a:spAutoFit/>
          </a:bodyPr>
          <a:lstStyle/>
          <a:p>
            <a:r>
              <a:rPr lang="en-US" dirty="0"/>
              <a:t>The variable Category_code has inappropriate values which are just blank. for that reason, we are labeling brands into 5 main groups which are </a:t>
            </a:r>
          </a:p>
          <a:p>
            <a:pPr marL="342900" indent="-342900">
              <a:buAutoNum type="arabicPeriod"/>
            </a:pPr>
            <a:r>
              <a:rPr lang="en-US" dirty="0"/>
              <a:t>Unknown</a:t>
            </a:r>
          </a:p>
          <a:p>
            <a:pPr marL="342900" indent="-342900">
              <a:buAutoNum type="arabicPeriod"/>
            </a:pPr>
            <a:r>
              <a:rPr lang="en-US" dirty="0"/>
              <a:t>Furniture</a:t>
            </a:r>
          </a:p>
          <a:p>
            <a:pPr marL="342900" indent="-342900">
              <a:buAutoNum type="arabicPeriod"/>
            </a:pPr>
            <a:r>
              <a:rPr lang="en-US" dirty="0"/>
              <a:t>Appliances</a:t>
            </a:r>
          </a:p>
          <a:p>
            <a:pPr marL="342900" indent="-342900">
              <a:buAutoNum type="arabicPeriod"/>
            </a:pPr>
            <a:r>
              <a:rPr lang="en-US" dirty="0"/>
              <a:t>Accessories</a:t>
            </a:r>
          </a:p>
          <a:p>
            <a:pPr marL="342900" indent="-342900">
              <a:buAutoNum type="arabicPeriod"/>
            </a:pPr>
            <a:r>
              <a:rPr lang="en-US" dirty="0"/>
              <a:t>Stationary</a:t>
            </a:r>
          </a:p>
        </p:txBody>
      </p:sp>
      <p:pic>
        <p:nvPicPr>
          <p:cNvPr id="6" name="Picture 5">
            <a:extLst>
              <a:ext uri="{FF2B5EF4-FFF2-40B4-BE49-F238E27FC236}">
                <a16:creationId xmlns:a16="http://schemas.microsoft.com/office/drawing/2014/main" id="{FC9ABFF4-E4C5-1638-9826-240DC4B47970}"/>
              </a:ext>
            </a:extLst>
          </p:cNvPr>
          <p:cNvPicPr>
            <a:picLocks noChangeAspect="1"/>
          </p:cNvPicPr>
          <p:nvPr/>
        </p:nvPicPr>
        <p:blipFill>
          <a:blip r:embed="rId3"/>
          <a:stretch>
            <a:fillRect/>
          </a:stretch>
        </p:blipFill>
        <p:spPr>
          <a:xfrm>
            <a:off x="2855320" y="1136017"/>
            <a:ext cx="5618622" cy="3597043"/>
          </a:xfrm>
          <a:prstGeom prst="rect">
            <a:avLst/>
          </a:prstGeom>
        </p:spPr>
      </p:pic>
      <p:sp>
        <p:nvSpPr>
          <p:cNvPr id="8" name="TextBox 7">
            <a:extLst>
              <a:ext uri="{FF2B5EF4-FFF2-40B4-BE49-F238E27FC236}">
                <a16:creationId xmlns:a16="http://schemas.microsoft.com/office/drawing/2014/main" id="{D11C2B1F-CEE0-FEB9-0C1B-E412251A6DA8}"/>
              </a:ext>
            </a:extLst>
          </p:cNvPr>
          <p:cNvSpPr txBox="1"/>
          <p:nvPr/>
        </p:nvSpPr>
        <p:spPr>
          <a:xfrm>
            <a:off x="-60056" y="-79701"/>
            <a:ext cx="4575874" cy="307777"/>
          </a:xfrm>
          <a:prstGeom prst="rect">
            <a:avLst/>
          </a:prstGeom>
          <a:noFill/>
        </p:spPr>
        <p:txBody>
          <a:bodyPr wrap="square">
            <a:spAutoFit/>
          </a:bodyPr>
          <a:lstStyle/>
          <a:p>
            <a:r>
              <a:rPr lang="en-US" dirty="0"/>
              <a:t>18.</a:t>
            </a:r>
          </a:p>
        </p:txBody>
      </p:sp>
    </p:spTree>
    <p:extLst>
      <p:ext uri="{BB962C8B-B14F-4D97-AF65-F5344CB8AC3E}">
        <p14:creationId xmlns:p14="http://schemas.microsoft.com/office/powerpoint/2010/main" val="835728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2"/>
          <p:cNvSpPr txBox="1">
            <a:spLocks noGrp="1"/>
          </p:cNvSpPr>
          <p:nvPr>
            <p:ph type="title"/>
          </p:nvPr>
        </p:nvSpPr>
        <p:spPr>
          <a:xfrm>
            <a:off x="386787" y="19089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Creating new data variables: </a:t>
            </a:r>
            <a:endParaRPr dirty="0"/>
          </a:p>
        </p:txBody>
      </p:sp>
      <p:cxnSp>
        <p:nvCxnSpPr>
          <p:cNvPr id="531" name="Google Shape;531;p42"/>
          <p:cNvCxnSpPr>
            <a:cxnSpLocks/>
          </p:cNvCxnSpPr>
          <p:nvPr/>
        </p:nvCxnSpPr>
        <p:spPr>
          <a:xfrm rot="5400000" flipH="1" flipV="1">
            <a:off x="2018206" y="655653"/>
            <a:ext cx="1027883" cy="2683388"/>
          </a:xfrm>
          <a:prstGeom prst="bentConnector3">
            <a:avLst>
              <a:gd name="adj1" fmla="val 50000"/>
            </a:avLst>
          </a:prstGeom>
          <a:noFill/>
          <a:ln w="9525" cap="flat" cmpd="sng">
            <a:solidFill>
              <a:schemeClr val="accent3"/>
            </a:solidFill>
            <a:prstDash val="solid"/>
            <a:miter lim="8000"/>
            <a:headEnd type="none" w="sm" len="sm"/>
            <a:tailEnd type="none" w="sm" len="sm"/>
          </a:ln>
        </p:spPr>
      </p:cxnSp>
      <p:cxnSp>
        <p:nvCxnSpPr>
          <p:cNvPr id="533" name="Google Shape;533;p42"/>
          <p:cNvCxnSpPr>
            <a:cxnSpLocks/>
            <a:stCxn id="534" idx="0"/>
            <a:endCxn id="526" idx="2"/>
          </p:cNvCxnSpPr>
          <p:nvPr/>
        </p:nvCxnSpPr>
        <p:spPr>
          <a:xfrm rot="5400000" flipH="1" flipV="1">
            <a:off x="3359899" y="1997349"/>
            <a:ext cx="1027883" cy="1"/>
          </a:xfrm>
          <a:prstGeom prst="bentConnector3">
            <a:avLst>
              <a:gd name="adj1" fmla="val 50000"/>
            </a:avLst>
          </a:prstGeom>
          <a:noFill/>
          <a:ln w="9525" cap="flat" cmpd="sng">
            <a:solidFill>
              <a:schemeClr val="accent3"/>
            </a:solidFill>
            <a:prstDash val="solid"/>
            <a:miter lim="8000"/>
            <a:headEnd type="none" w="sm" len="sm"/>
            <a:tailEnd type="none" w="sm" len="sm"/>
          </a:ln>
        </p:spPr>
      </p:cxnSp>
      <p:cxnSp>
        <p:nvCxnSpPr>
          <p:cNvPr id="535" name="Google Shape;535;p42"/>
          <p:cNvCxnSpPr>
            <a:stCxn id="536" idx="0"/>
            <a:endCxn id="526" idx="2"/>
          </p:cNvCxnSpPr>
          <p:nvPr/>
        </p:nvCxnSpPr>
        <p:spPr>
          <a:xfrm rot="16200000" flipV="1">
            <a:off x="5256931" y="100318"/>
            <a:ext cx="1027883" cy="3794062"/>
          </a:xfrm>
          <a:prstGeom prst="bentConnector3">
            <a:avLst>
              <a:gd name="adj1" fmla="val 50000"/>
            </a:avLst>
          </a:prstGeom>
          <a:noFill/>
          <a:ln w="9525" cap="flat" cmpd="sng">
            <a:solidFill>
              <a:schemeClr val="accent3"/>
            </a:solidFill>
            <a:prstDash val="solid"/>
            <a:miter lim="8000"/>
            <a:headEnd type="none" w="sm" len="sm"/>
            <a:tailEnd type="none" w="sm" len="sm"/>
          </a:ln>
        </p:spPr>
      </p:cxnSp>
      <p:sp>
        <p:nvSpPr>
          <p:cNvPr id="526" name="Google Shape;526;p42"/>
          <p:cNvSpPr txBox="1"/>
          <p:nvPr/>
        </p:nvSpPr>
        <p:spPr>
          <a:xfrm>
            <a:off x="3248341" y="1112607"/>
            <a:ext cx="1251000" cy="370800"/>
          </a:xfrm>
          <a:prstGeom prst="rect">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solidFill>
                  <a:schemeClr val="lt1"/>
                </a:solidFill>
                <a:latin typeface="DM Sans Medium"/>
                <a:ea typeface="DM Sans Medium"/>
                <a:cs typeface="DM Sans Medium"/>
                <a:sym typeface="DM Sans Medium"/>
              </a:rPr>
              <a:t>Event_Time</a:t>
            </a:r>
            <a:endParaRPr sz="1000" dirty="0">
              <a:solidFill>
                <a:schemeClr val="lt1"/>
              </a:solidFill>
              <a:latin typeface="DM Sans Medium"/>
              <a:ea typeface="DM Sans Medium"/>
              <a:cs typeface="DM Sans Medium"/>
              <a:sym typeface="DM Sans Medium"/>
            </a:endParaRPr>
          </a:p>
        </p:txBody>
      </p:sp>
      <p:sp>
        <p:nvSpPr>
          <p:cNvPr id="534" name="Google Shape;534;p42"/>
          <p:cNvSpPr txBox="1"/>
          <p:nvPr/>
        </p:nvSpPr>
        <p:spPr>
          <a:xfrm>
            <a:off x="3228540" y="2511290"/>
            <a:ext cx="1290600" cy="370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solidFill>
                  <a:schemeClr val="lt1"/>
                </a:solidFill>
                <a:latin typeface="DM Sans Medium"/>
                <a:ea typeface="DM Sans Medium"/>
                <a:cs typeface="DM Sans Medium"/>
                <a:sym typeface="DM Sans Medium"/>
              </a:rPr>
              <a:t>Afternoon</a:t>
            </a:r>
            <a:endParaRPr sz="1000" dirty="0">
              <a:solidFill>
                <a:schemeClr val="lt1"/>
              </a:solidFill>
              <a:latin typeface="DM Sans Medium"/>
              <a:ea typeface="DM Sans Medium"/>
              <a:cs typeface="DM Sans Medium"/>
              <a:sym typeface="DM Sans Medium"/>
            </a:endParaRPr>
          </a:p>
        </p:txBody>
      </p:sp>
      <p:sp>
        <p:nvSpPr>
          <p:cNvPr id="532" name="Google Shape;532;p42"/>
          <p:cNvSpPr txBox="1"/>
          <p:nvPr/>
        </p:nvSpPr>
        <p:spPr>
          <a:xfrm>
            <a:off x="545153" y="2511290"/>
            <a:ext cx="1290600" cy="370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solidFill>
                  <a:schemeClr val="lt1"/>
                </a:solidFill>
                <a:latin typeface="DM Sans Medium"/>
                <a:ea typeface="DM Sans Medium"/>
                <a:cs typeface="DM Sans Medium"/>
                <a:sym typeface="DM Sans Medium"/>
              </a:rPr>
              <a:t>Morning</a:t>
            </a:r>
            <a:endParaRPr sz="1000" dirty="0">
              <a:solidFill>
                <a:schemeClr val="lt1"/>
              </a:solidFill>
              <a:latin typeface="DM Sans Medium"/>
              <a:ea typeface="DM Sans Medium"/>
              <a:cs typeface="DM Sans Medium"/>
              <a:sym typeface="DM Sans Medium"/>
            </a:endParaRPr>
          </a:p>
        </p:txBody>
      </p:sp>
      <p:sp>
        <p:nvSpPr>
          <p:cNvPr id="536" name="Google Shape;536;p42"/>
          <p:cNvSpPr txBox="1"/>
          <p:nvPr/>
        </p:nvSpPr>
        <p:spPr>
          <a:xfrm>
            <a:off x="7022603" y="2511290"/>
            <a:ext cx="1290600" cy="370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solidFill>
                  <a:schemeClr val="lt1"/>
                </a:solidFill>
                <a:latin typeface="DM Sans Medium"/>
                <a:ea typeface="DM Sans Medium"/>
                <a:cs typeface="DM Sans Medium"/>
                <a:sym typeface="DM Sans Medium"/>
              </a:rPr>
              <a:t>Evening</a:t>
            </a:r>
            <a:endParaRPr sz="1000" dirty="0">
              <a:solidFill>
                <a:schemeClr val="lt1"/>
              </a:solidFill>
              <a:latin typeface="DM Sans Medium"/>
              <a:ea typeface="DM Sans Medium"/>
              <a:cs typeface="DM Sans Medium"/>
              <a:sym typeface="DM Sans Medium"/>
            </a:endParaRPr>
          </a:p>
        </p:txBody>
      </p:sp>
      <p:sp>
        <p:nvSpPr>
          <p:cNvPr id="12" name="TextBox 11">
            <a:extLst>
              <a:ext uri="{FF2B5EF4-FFF2-40B4-BE49-F238E27FC236}">
                <a16:creationId xmlns:a16="http://schemas.microsoft.com/office/drawing/2014/main" id="{DAABD479-A27B-6E2C-18EA-5367DA63558F}"/>
              </a:ext>
            </a:extLst>
          </p:cNvPr>
          <p:cNvSpPr txBox="1"/>
          <p:nvPr/>
        </p:nvSpPr>
        <p:spPr>
          <a:xfrm>
            <a:off x="1092631" y="3580108"/>
            <a:ext cx="6106332" cy="738664"/>
          </a:xfrm>
          <a:prstGeom prst="rect">
            <a:avLst/>
          </a:prstGeom>
          <a:noFill/>
        </p:spPr>
        <p:txBody>
          <a:bodyPr wrap="square" rtlCol="0">
            <a:spAutoFit/>
          </a:bodyPr>
          <a:lstStyle/>
          <a:p>
            <a:r>
              <a:rPr lang="en-US" dirty="0"/>
              <a:t>We have created 3 new variables from our Event_Time variable.</a:t>
            </a:r>
          </a:p>
          <a:p>
            <a:r>
              <a:rPr lang="en-US" dirty="0"/>
              <a:t>Because we had so many values we felt creating new ones would give a clear picture. </a:t>
            </a:r>
          </a:p>
        </p:txBody>
      </p:sp>
      <p:sp>
        <p:nvSpPr>
          <p:cNvPr id="14" name="TextBox 13">
            <a:extLst>
              <a:ext uri="{FF2B5EF4-FFF2-40B4-BE49-F238E27FC236}">
                <a16:creationId xmlns:a16="http://schemas.microsoft.com/office/drawing/2014/main" id="{07EAF71D-4DB0-F1AC-D8F4-2FD4378887F8}"/>
              </a:ext>
            </a:extLst>
          </p:cNvPr>
          <p:cNvSpPr txBox="1"/>
          <p:nvPr/>
        </p:nvSpPr>
        <p:spPr>
          <a:xfrm>
            <a:off x="0" y="43788"/>
            <a:ext cx="4575874" cy="307777"/>
          </a:xfrm>
          <a:prstGeom prst="rect">
            <a:avLst/>
          </a:prstGeom>
          <a:noFill/>
        </p:spPr>
        <p:txBody>
          <a:bodyPr wrap="square">
            <a:spAutoFit/>
          </a:bodyPr>
          <a:lstStyle/>
          <a:p>
            <a:r>
              <a:rPr lang="en-US" dirty="0"/>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65" name="Google Shape;365;p35"/>
          <p:cNvSpPr txBox="1">
            <a:spLocks noGrp="1"/>
          </p:cNvSpPr>
          <p:nvPr>
            <p:ph type="subTitle" idx="6"/>
          </p:nvPr>
        </p:nvSpPr>
        <p:spPr>
          <a:xfrm>
            <a:off x="402957" y="427428"/>
            <a:ext cx="7811145" cy="914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Exploratory data analysis</a:t>
            </a:r>
            <a:endParaRPr sz="2800" dirty="0"/>
          </a:p>
        </p:txBody>
      </p:sp>
      <p:sp>
        <p:nvSpPr>
          <p:cNvPr id="3" name="TextBox 2">
            <a:extLst>
              <a:ext uri="{FF2B5EF4-FFF2-40B4-BE49-F238E27FC236}">
                <a16:creationId xmlns:a16="http://schemas.microsoft.com/office/drawing/2014/main" id="{CB96546D-733D-90C7-492B-80ED947BC3DE}"/>
              </a:ext>
            </a:extLst>
          </p:cNvPr>
          <p:cNvSpPr txBox="1"/>
          <p:nvPr/>
        </p:nvSpPr>
        <p:spPr>
          <a:xfrm>
            <a:off x="348711" y="1015139"/>
            <a:ext cx="8454325" cy="1169551"/>
          </a:xfrm>
          <a:prstGeom prst="rect">
            <a:avLst/>
          </a:prstGeom>
          <a:noFill/>
        </p:spPr>
        <p:txBody>
          <a:bodyPr wrap="square" rtlCol="0">
            <a:spAutoFit/>
          </a:bodyPr>
          <a:lstStyle/>
          <a:p>
            <a:r>
              <a:rPr lang="en-US" dirty="0"/>
              <a:t>         Now let's see how our dependent variable Event_type_ cart is dealing with the variables </a:t>
            </a:r>
          </a:p>
          <a:p>
            <a:endParaRPr lang="en-US" dirty="0"/>
          </a:p>
          <a:p>
            <a:endParaRPr lang="en-US" dirty="0"/>
          </a:p>
          <a:p>
            <a:r>
              <a:rPr lang="en-US" dirty="0">
                <a:solidFill>
                  <a:schemeClr val="accent4"/>
                </a:solidFill>
              </a:rPr>
              <a:t>           Time of the day                                                                                          Brand</a:t>
            </a:r>
          </a:p>
          <a:p>
            <a:endParaRPr lang="en-US" dirty="0"/>
          </a:p>
        </p:txBody>
      </p:sp>
      <p:pic>
        <p:nvPicPr>
          <p:cNvPr id="4" name="Picture 3">
            <a:extLst>
              <a:ext uri="{FF2B5EF4-FFF2-40B4-BE49-F238E27FC236}">
                <a16:creationId xmlns:a16="http://schemas.microsoft.com/office/drawing/2014/main" id="{D89941A7-AD41-7CEB-EE9E-13861DC79902}"/>
              </a:ext>
            </a:extLst>
          </p:cNvPr>
          <p:cNvPicPr>
            <a:picLocks noChangeAspect="1"/>
          </p:cNvPicPr>
          <p:nvPr/>
        </p:nvPicPr>
        <p:blipFill>
          <a:blip r:embed="rId3"/>
          <a:stretch>
            <a:fillRect/>
          </a:stretch>
        </p:blipFill>
        <p:spPr>
          <a:xfrm>
            <a:off x="348711" y="2187626"/>
            <a:ext cx="3696347" cy="1853661"/>
          </a:xfrm>
          <a:prstGeom prst="rect">
            <a:avLst/>
          </a:prstGeom>
        </p:spPr>
      </p:pic>
      <p:pic>
        <p:nvPicPr>
          <p:cNvPr id="5" name="Picture 4">
            <a:extLst>
              <a:ext uri="{FF2B5EF4-FFF2-40B4-BE49-F238E27FC236}">
                <a16:creationId xmlns:a16="http://schemas.microsoft.com/office/drawing/2014/main" id="{12E4C175-167D-3EAE-6E3B-523F65F5A563}"/>
              </a:ext>
            </a:extLst>
          </p:cNvPr>
          <p:cNvPicPr>
            <a:picLocks noChangeAspect="1"/>
          </p:cNvPicPr>
          <p:nvPr/>
        </p:nvPicPr>
        <p:blipFill>
          <a:blip r:embed="rId4"/>
          <a:stretch>
            <a:fillRect/>
          </a:stretch>
        </p:blipFill>
        <p:spPr>
          <a:xfrm>
            <a:off x="4515266" y="2194849"/>
            <a:ext cx="4249273" cy="1853661"/>
          </a:xfrm>
          <a:prstGeom prst="rect">
            <a:avLst/>
          </a:prstGeom>
        </p:spPr>
      </p:pic>
      <p:sp>
        <p:nvSpPr>
          <p:cNvPr id="7" name="TextBox 6">
            <a:extLst>
              <a:ext uri="{FF2B5EF4-FFF2-40B4-BE49-F238E27FC236}">
                <a16:creationId xmlns:a16="http://schemas.microsoft.com/office/drawing/2014/main" id="{21D23CDF-CB93-7977-D525-EB06AA14E472}"/>
              </a:ext>
            </a:extLst>
          </p:cNvPr>
          <p:cNvSpPr txBox="1"/>
          <p:nvPr/>
        </p:nvSpPr>
        <p:spPr>
          <a:xfrm>
            <a:off x="0" y="0"/>
            <a:ext cx="4575874" cy="307777"/>
          </a:xfrm>
          <a:prstGeom prst="rect">
            <a:avLst/>
          </a:prstGeom>
          <a:noFill/>
        </p:spPr>
        <p:txBody>
          <a:bodyPr wrap="square">
            <a:spAutoFit/>
          </a:bodyPr>
          <a:lstStyle/>
          <a:p>
            <a:r>
              <a:rPr lang="en-US" dirty="0"/>
              <a:t>20.</a:t>
            </a:r>
          </a:p>
        </p:txBody>
      </p:sp>
    </p:spTree>
    <p:extLst>
      <p:ext uri="{BB962C8B-B14F-4D97-AF65-F5344CB8AC3E}">
        <p14:creationId xmlns:p14="http://schemas.microsoft.com/office/powerpoint/2010/main" val="2166378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2" name="TextBox 1">
            <a:extLst>
              <a:ext uri="{FF2B5EF4-FFF2-40B4-BE49-F238E27FC236}">
                <a16:creationId xmlns:a16="http://schemas.microsoft.com/office/drawing/2014/main" id="{EB8F3034-692D-0227-095B-2A7EED215651}"/>
              </a:ext>
            </a:extLst>
          </p:cNvPr>
          <p:cNvSpPr txBox="1"/>
          <p:nvPr/>
        </p:nvSpPr>
        <p:spPr>
          <a:xfrm>
            <a:off x="426201" y="497971"/>
            <a:ext cx="8012623" cy="1015663"/>
          </a:xfrm>
          <a:prstGeom prst="rect">
            <a:avLst/>
          </a:prstGeom>
          <a:noFill/>
        </p:spPr>
        <p:txBody>
          <a:bodyPr wrap="square" rtlCol="0">
            <a:spAutoFit/>
          </a:bodyPr>
          <a:lstStyle/>
          <a:p>
            <a:r>
              <a:rPr lang="en-US" sz="2000" dirty="0"/>
              <a:t>Our dependent variable has 2 categories: </a:t>
            </a:r>
          </a:p>
          <a:p>
            <a:r>
              <a:rPr lang="en-US" sz="2000" dirty="0"/>
              <a:t>0= The person did not keep anything in their cart </a:t>
            </a:r>
          </a:p>
          <a:p>
            <a:r>
              <a:rPr lang="en-US" sz="2000" dirty="0"/>
              <a:t>1= The person kept something in their cart</a:t>
            </a:r>
          </a:p>
        </p:txBody>
      </p:sp>
      <p:pic>
        <p:nvPicPr>
          <p:cNvPr id="3" name="Picture 2">
            <a:extLst>
              <a:ext uri="{FF2B5EF4-FFF2-40B4-BE49-F238E27FC236}">
                <a16:creationId xmlns:a16="http://schemas.microsoft.com/office/drawing/2014/main" id="{49EC4324-7EAB-1305-1475-BBF01E8CFE53}"/>
              </a:ext>
            </a:extLst>
          </p:cNvPr>
          <p:cNvPicPr>
            <a:picLocks noChangeAspect="1"/>
          </p:cNvPicPr>
          <p:nvPr/>
        </p:nvPicPr>
        <p:blipFill>
          <a:blip r:embed="rId3"/>
          <a:stretch>
            <a:fillRect/>
          </a:stretch>
        </p:blipFill>
        <p:spPr>
          <a:xfrm>
            <a:off x="1780365" y="1747206"/>
            <a:ext cx="4885842" cy="2947366"/>
          </a:xfrm>
          <a:prstGeom prst="rect">
            <a:avLst/>
          </a:prstGeom>
        </p:spPr>
      </p:pic>
      <p:sp>
        <p:nvSpPr>
          <p:cNvPr id="5" name="TextBox 4">
            <a:extLst>
              <a:ext uri="{FF2B5EF4-FFF2-40B4-BE49-F238E27FC236}">
                <a16:creationId xmlns:a16="http://schemas.microsoft.com/office/drawing/2014/main" id="{8DFAA105-B3E8-38C0-2E62-582BB3512B66}"/>
              </a:ext>
            </a:extLst>
          </p:cNvPr>
          <p:cNvSpPr txBox="1"/>
          <p:nvPr/>
        </p:nvSpPr>
        <p:spPr>
          <a:xfrm>
            <a:off x="2820691" y="4714695"/>
            <a:ext cx="728421" cy="307777"/>
          </a:xfrm>
          <a:prstGeom prst="rect">
            <a:avLst/>
          </a:prstGeom>
          <a:noFill/>
        </p:spPr>
        <p:txBody>
          <a:bodyPr wrap="square" rtlCol="0">
            <a:spAutoFit/>
          </a:bodyPr>
          <a:lstStyle/>
          <a:p>
            <a:r>
              <a:rPr lang="en-US" dirty="0"/>
              <a:t>   0 </a:t>
            </a:r>
          </a:p>
        </p:txBody>
      </p:sp>
      <p:sp>
        <p:nvSpPr>
          <p:cNvPr id="6" name="TextBox 5">
            <a:extLst>
              <a:ext uri="{FF2B5EF4-FFF2-40B4-BE49-F238E27FC236}">
                <a16:creationId xmlns:a16="http://schemas.microsoft.com/office/drawing/2014/main" id="{6A197D5A-ADCE-817F-4A72-DD9E5022F15B}"/>
              </a:ext>
            </a:extLst>
          </p:cNvPr>
          <p:cNvSpPr txBox="1"/>
          <p:nvPr/>
        </p:nvSpPr>
        <p:spPr>
          <a:xfrm>
            <a:off x="5226805" y="4733404"/>
            <a:ext cx="736170" cy="307777"/>
          </a:xfrm>
          <a:prstGeom prst="rect">
            <a:avLst/>
          </a:prstGeom>
          <a:noFill/>
        </p:spPr>
        <p:txBody>
          <a:bodyPr wrap="square" rtlCol="0">
            <a:spAutoFit/>
          </a:bodyPr>
          <a:lstStyle/>
          <a:p>
            <a:r>
              <a:rPr lang="en-US" dirty="0"/>
              <a:t>   1</a:t>
            </a:r>
          </a:p>
        </p:txBody>
      </p:sp>
      <p:sp>
        <p:nvSpPr>
          <p:cNvPr id="7" name="TextBox 6">
            <a:extLst>
              <a:ext uri="{FF2B5EF4-FFF2-40B4-BE49-F238E27FC236}">
                <a16:creationId xmlns:a16="http://schemas.microsoft.com/office/drawing/2014/main" id="{9E8439C8-5005-594C-E9CB-2F22B7B6D21D}"/>
              </a:ext>
            </a:extLst>
          </p:cNvPr>
          <p:cNvSpPr txBox="1"/>
          <p:nvPr/>
        </p:nvSpPr>
        <p:spPr>
          <a:xfrm>
            <a:off x="3336008" y="1552466"/>
            <a:ext cx="2193010" cy="307777"/>
          </a:xfrm>
          <a:prstGeom prst="rect">
            <a:avLst/>
          </a:prstGeom>
          <a:noFill/>
        </p:spPr>
        <p:txBody>
          <a:bodyPr wrap="square" rtlCol="0">
            <a:spAutoFit/>
          </a:bodyPr>
          <a:lstStyle/>
          <a:p>
            <a:r>
              <a:rPr lang="en-US" dirty="0"/>
              <a:t>Event Type cart</a:t>
            </a:r>
          </a:p>
        </p:txBody>
      </p:sp>
      <p:sp>
        <p:nvSpPr>
          <p:cNvPr id="8" name="TextBox 7">
            <a:extLst>
              <a:ext uri="{FF2B5EF4-FFF2-40B4-BE49-F238E27FC236}">
                <a16:creationId xmlns:a16="http://schemas.microsoft.com/office/drawing/2014/main" id="{250D9DE9-95B8-51E3-8571-D8AED15D774B}"/>
              </a:ext>
            </a:extLst>
          </p:cNvPr>
          <p:cNvSpPr txBox="1"/>
          <p:nvPr/>
        </p:nvSpPr>
        <p:spPr>
          <a:xfrm>
            <a:off x="3336008" y="1580"/>
            <a:ext cx="4207790" cy="338554"/>
          </a:xfrm>
          <a:prstGeom prst="rect">
            <a:avLst/>
          </a:prstGeom>
          <a:noFill/>
        </p:spPr>
        <p:txBody>
          <a:bodyPr wrap="square" rtlCol="0">
            <a:spAutoFit/>
          </a:bodyPr>
          <a:lstStyle/>
          <a:p>
            <a:r>
              <a:rPr lang="en-US" sz="1600" dirty="0">
                <a:solidFill>
                  <a:schemeClr val="accent4"/>
                </a:solidFill>
              </a:rPr>
              <a:t>Data before Balancing </a:t>
            </a:r>
          </a:p>
        </p:txBody>
      </p:sp>
      <p:sp>
        <p:nvSpPr>
          <p:cNvPr id="9" name="TextBox 8">
            <a:extLst>
              <a:ext uri="{FF2B5EF4-FFF2-40B4-BE49-F238E27FC236}">
                <a16:creationId xmlns:a16="http://schemas.microsoft.com/office/drawing/2014/main" id="{C5C5A088-FFD0-7E7C-0227-DAC93354F5F9}"/>
              </a:ext>
            </a:extLst>
          </p:cNvPr>
          <p:cNvSpPr txBox="1"/>
          <p:nvPr/>
        </p:nvSpPr>
        <p:spPr>
          <a:xfrm>
            <a:off x="2820691" y="3541363"/>
            <a:ext cx="635431" cy="230832"/>
          </a:xfrm>
          <a:prstGeom prst="rect">
            <a:avLst/>
          </a:prstGeom>
          <a:noFill/>
        </p:spPr>
        <p:txBody>
          <a:bodyPr wrap="square" rtlCol="0">
            <a:spAutoFit/>
          </a:bodyPr>
          <a:lstStyle/>
          <a:p>
            <a:r>
              <a:rPr lang="en-US" sz="900" dirty="0"/>
              <a:t>2499650</a:t>
            </a:r>
          </a:p>
        </p:txBody>
      </p:sp>
      <p:sp>
        <p:nvSpPr>
          <p:cNvPr id="10" name="TextBox 9">
            <a:extLst>
              <a:ext uri="{FF2B5EF4-FFF2-40B4-BE49-F238E27FC236}">
                <a16:creationId xmlns:a16="http://schemas.microsoft.com/office/drawing/2014/main" id="{19BD7ABB-34BE-0FBA-C8CF-B018187EF296}"/>
              </a:ext>
            </a:extLst>
          </p:cNvPr>
          <p:cNvSpPr txBox="1"/>
          <p:nvPr/>
        </p:nvSpPr>
        <p:spPr>
          <a:xfrm>
            <a:off x="5098943" y="4076054"/>
            <a:ext cx="643180" cy="230832"/>
          </a:xfrm>
          <a:prstGeom prst="rect">
            <a:avLst/>
          </a:prstGeom>
          <a:noFill/>
        </p:spPr>
        <p:txBody>
          <a:bodyPr wrap="square" rtlCol="0">
            <a:spAutoFit/>
          </a:bodyPr>
          <a:lstStyle/>
          <a:p>
            <a:r>
              <a:rPr lang="en-US" sz="900" dirty="0"/>
              <a:t>1164087</a:t>
            </a:r>
          </a:p>
        </p:txBody>
      </p:sp>
      <p:sp>
        <p:nvSpPr>
          <p:cNvPr id="12" name="TextBox 11">
            <a:extLst>
              <a:ext uri="{FF2B5EF4-FFF2-40B4-BE49-F238E27FC236}">
                <a16:creationId xmlns:a16="http://schemas.microsoft.com/office/drawing/2014/main" id="{3204054C-227D-6B74-74EF-A2ACDE3C0624}"/>
              </a:ext>
            </a:extLst>
          </p:cNvPr>
          <p:cNvSpPr txBox="1"/>
          <p:nvPr/>
        </p:nvSpPr>
        <p:spPr>
          <a:xfrm>
            <a:off x="131735" y="-4745"/>
            <a:ext cx="4572000" cy="307777"/>
          </a:xfrm>
          <a:prstGeom prst="rect">
            <a:avLst/>
          </a:prstGeom>
          <a:noFill/>
        </p:spPr>
        <p:txBody>
          <a:bodyPr wrap="square">
            <a:spAutoFit/>
          </a:bodyPr>
          <a:lstStyle/>
          <a:p>
            <a:r>
              <a:rPr lang="en-US" dirty="0"/>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2" name="TextBox 1">
            <a:extLst>
              <a:ext uri="{FF2B5EF4-FFF2-40B4-BE49-F238E27FC236}">
                <a16:creationId xmlns:a16="http://schemas.microsoft.com/office/drawing/2014/main" id="{DA2C7720-6028-907F-E4F6-C8CCF3D9C09C}"/>
              </a:ext>
            </a:extLst>
          </p:cNvPr>
          <p:cNvSpPr txBox="1"/>
          <p:nvPr/>
        </p:nvSpPr>
        <p:spPr>
          <a:xfrm>
            <a:off x="3150028" y="-59777"/>
            <a:ext cx="4207790" cy="338554"/>
          </a:xfrm>
          <a:prstGeom prst="rect">
            <a:avLst/>
          </a:prstGeom>
          <a:noFill/>
        </p:spPr>
        <p:txBody>
          <a:bodyPr wrap="square" rtlCol="0">
            <a:spAutoFit/>
          </a:bodyPr>
          <a:lstStyle/>
          <a:p>
            <a:r>
              <a:rPr lang="en-US" sz="1600" dirty="0">
                <a:solidFill>
                  <a:schemeClr val="accent4"/>
                </a:solidFill>
              </a:rPr>
              <a:t>Data after Balancing </a:t>
            </a:r>
          </a:p>
        </p:txBody>
      </p:sp>
      <p:pic>
        <p:nvPicPr>
          <p:cNvPr id="3" name="Picture 2">
            <a:extLst>
              <a:ext uri="{FF2B5EF4-FFF2-40B4-BE49-F238E27FC236}">
                <a16:creationId xmlns:a16="http://schemas.microsoft.com/office/drawing/2014/main" id="{0274E3B7-0809-F802-186F-63DB1221254A}"/>
              </a:ext>
            </a:extLst>
          </p:cNvPr>
          <p:cNvPicPr>
            <a:picLocks noChangeAspect="1"/>
          </p:cNvPicPr>
          <p:nvPr/>
        </p:nvPicPr>
        <p:blipFill>
          <a:blip r:embed="rId3"/>
          <a:stretch>
            <a:fillRect/>
          </a:stretch>
        </p:blipFill>
        <p:spPr>
          <a:xfrm>
            <a:off x="1509352" y="1571766"/>
            <a:ext cx="6125295" cy="3161654"/>
          </a:xfrm>
          <a:prstGeom prst="rect">
            <a:avLst/>
          </a:prstGeom>
        </p:spPr>
      </p:pic>
      <p:sp>
        <p:nvSpPr>
          <p:cNvPr id="4" name="TextBox 3">
            <a:extLst>
              <a:ext uri="{FF2B5EF4-FFF2-40B4-BE49-F238E27FC236}">
                <a16:creationId xmlns:a16="http://schemas.microsoft.com/office/drawing/2014/main" id="{71D0EBC7-C9B6-91F6-839A-0DC6338D0566}"/>
              </a:ext>
            </a:extLst>
          </p:cNvPr>
          <p:cNvSpPr txBox="1"/>
          <p:nvPr/>
        </p:nvSpPr>
        <p:spPr>
          <a:xfrm>
            <a:off x="2991173" y="4788976"/>
            <a:ext cx="712922" cy="307777"/>
          </a:xfrm>
          <a:prstGeom prst="rect">
            <a:avLst/>
          </a:prstGeom>
          <a:noFill/>
        </p:spPr>
        <p:txBody>
          <a:bodyPr wrap="square" rtlCol="0">
            <a:spAutoFit/>
          </a:bodyPr>
          <a:lstStyle/>
          <a:p>
            <a:r>
              <a:rPr lang="en-US" dirty="0"/>
              <a:t>0</a:t>
            </a:r>
          </a:p>
        </p:txBody>
      </p:sp>
      <p:sp>
        <p:nvSpPr>
          <p:cNvPr id="5" name="TextBox 4">
            <a:extLst>
              <a:ext uri="{FF2B5EF4-FFF2-40B4-BE49-F238E27FC236}">
                <a16:creationId xmlns:a16="http://schemas.microsoft.com/office/drawing/2014/main" id="{2E98D2C3-6488-8669-161D-D6E2CFA5E4F2}"/>
              </a:ext>
            </a:extLst>
          </p:cNvPr>
          <p:cNvSpPr txBox="1"/>
          <p:nvPr/>
        </p:nvSpPr>
        <p:spPr>
          <a:xfrm>
            <a:off x="5827363" y="4680488"/>
            <a:ext cx="666427" cy="307777"/>
          </a:xfrm>
          <a:prstGeom prst="rect">
            <a:avLst/>
          </a:prstGeom>
          <a:noFill/>
        </p:spPr>
        <p:txBody>
          <a:bodyPr wrap="square" rtlCol="0">
            <a:spAutoFit/>
          </a:bodyPr>
          <a:lstStyle/>
          <a:p>
            <a:r>
              <a:rPr lang="en-US" dirty="0"/>
              <a:t>1</a:t>
            </a:r>
          </a:p>
        </p:txBody>
      </p:sp>
      <p:sp>
        <p:nvSpPr>
          <p:cNvPr id="6" name="TextBox 5">
            <a:extLst>
              <a:ext uri="{FF2B5EF4-FFF2-40B4-BE49-F238E27FC236}">
                <a16:creationId xmlns:a16="http://schemas.microsoft.com/office/drawing/2014/main" id="{245CEC84-7078-4AEA-2FCB-4733B150B8D8}"/>
              </a:ext>
            </a:extLst>
          </p:cNvPr>
          <p:cNvSpPr txBox="1"/>
          <p:nvPr/>
        </p:nvSpPr>
        <p:spPr>
          <a:xfrm>
            <a:off x="2774196" y="3191555"/>
            <a:ext cx="1022889" cy="307777"/>
          </a:xfrm>
          <a:prstGeom prst="rect">
            <a:avLst/>
          </a:prstGeom>
          <a:noFill/>
        </p:spPr>
        <p:txBody>
          <a:bodyPr wrap="square" rtlCol="0">
            <a:spAutoFit/>
          </a:bodyPr>
          <a:lstStyle/>
          <a:p>
            <a:r>
              <a:rPr lang="en-US" dirty="0"/>
              <a:t>1099699</a:t>
            </a:r>
          </a:p>
        </p:txBody>
      </p:sp>
      <p:sp>
        <p:nvSpPr>
          <p:cNvPr id="7" name="TextBox 6">
            <a:extLst>
              <a:ext uri="{FF2B5EF4-FFF2-40B4-BE49-F238E27FC236}">
                <a16:creationId xmlns:a16="http://schemas.microsoft.com/office/drawing/2014/main" id="{FF41F92D-F2E2-FE90-565D-6467AC2FA549}"/>
              </a:ext>
            </a:extLst>
          </p:cNvPr>
          <p:cNvSpPr txBox="1"/>
          <p:nvPr/>
        </p:nvSpPr>
        <p:spPr>
          <a:xfrm>
            <a:off x="5563892" y="3191554"/>
            <a:ext cx="929898" cy="307777"/>
          </a:xfrm>
          <a:prstGeom prst="rect">
            <a:avLst/>
          </a:prstGeom>
          <a:noFill/>
        </p:spPr>
        <p:txBody>
          <a:bodyPr wrap="square" rtlCol="0">
            <a:spAutoFit/>
          </a:bodyPr>
          <a:lstStyle/>
          <a:p>
            <a:r>
              <a:rPr lang="en-US" dirty="0"/>
              <a:t>1098544</a:t>
            </a:r>
          </a:p>
        </p:txBody>
      </p:sp>
      <p:sp>
        <p:nvSpPr>
          <p:cNvPr id="9" name="TextBox 8">
            <a:extLst>
              <a:ext uri="{FF2B5EF4-FFF2-40B4-BE49-F238E27FC236}">
                <a16:creationId xmlns:a16="http://schemas.microsoft.com/office/drawing/2014/main" id="{8EF16DC4-DD72-7D60-AFAC-0358C9BAAD05}"/>
              </a:ext>
            </a:extLst>
          </p:cNvPr>
          <p:cNvSpPr txBox="1"/>
          <p:nvPr/>
        </p:nvSpPr>
        <p:spPr>
          <a:xfrm>
            <a:off x="3541363" y="1235181"/>
            <a:ext cx="4572000" cy="307777"/>
          </a:xfrm>
          <a:prstGeom prst="rect">
            <a:avLst/>
          </a:prstGeom>
          <a:noFill/>
        </p:spPr>
        <p:txBody>
          <a:bodyPr wrap="square">
            <a:spAutoFit/>
          </a:bodyPr>
          <a:lstStyle/>
          <a:p>
            <a:r>
              <a:rPr lang="en-US" dirty="0"/>
              <a:t>Event Type cart</a:t>
            </a:r>
          </a:p>
        </p:txBody>
      </p:sp>
      <p:sp>
        <p:nvSpPr>
          <p:cNvPr id="10" name="TextBox 9">
            <a:extLst>
              <a:ext uri="{FF2B5EF4-FFF2-40B4-BE49-F238E27FC236}">
                <a16:creationId xmlns:a16="http://schemas.microsoft.com/office/drawing/2014/main" id="{BE0731E7-075A-F32D-B75D-96DDBF16E0EC}"/>
              </a:ext>
            </a:extLst>
          </p:cNvPr>
          <p:cNvSpPr txBox="1"/>
          <p:nvPr/>
        </p:nvSpPr>
        <p:spPr>
          <a:xfrm>
            <a:off x="201478" y="278777"/>
            <a:ext cx="8849531" cy="1169551"/>
          </a:xfrm>
          <a:prstGeom prst="rect">
            <a:avLst/>
          </a:prstGeom>
          <a:noFill/>
        </p:spPr>
        <p:txBody>
          <a:bodyPr wrap="square" rtlCol="0">
            <a:spAutoFit/>
          </a:bodyPr>
          <a:lstStyle/>
          <a:p>
            <a:r>
              <a:rPr lang="en-US" dirty="0"/>
              <a:t>it's an unbalanced dataset. and before we proceed with anything we need to balance it and for that </a:t>
            </a:r>
          </a:p>
          <a:p>
            <a:r>
              <a:rPr lang="en-US" dirty="0"/>
              <a:t>we will be using ROSE to balance the target variable.</a:t>
            </a:r>
          </a:p>
          <a:p>
            <a:r>
              <a:rPr lang="en-US" dirty="0"/>
              <a:t>The data generated from oversampling have the expected amount of repeated observations. ROSE helps us to generate data synthetically as well. The data generated using ROSE is considered to provide a better estimate of original data.</a:t>
            </a:r>
          </a:p>
        </p:txBody>
      </p:sp>
      <p:sp>
        <p:nvSpPr>
          <p:cNvPr id="12" name="TextBox 11">
            <a:extLst>
              <a:ext uri="{FF2B5EF4-FFF2-40B4-BE49-F238E27FC236}">
                <a16:creationId xmlns:a16="http://schemas.microsoft.com/office/drawing/2014/main" id="{4B3FA27D-E196-5A29-924D-BCF9815C753A}"/>
              </a:ext>
            </a:extLst>
          </p:cNvPr>
          <p:cNvSpPr txBox="1"/>
          <p:nvPr/>
        </p:nvSpPr>
        <p:spPr>
          <a:xfrm>
            <a:off x="201478" y="-1222"/>
            <a:ext cx="4572000" cy="307777"/>
          </a:xfrm>
          <a:prstGeom prst="rect">
            <a:avLst/>
          </a:prstGeom>
          <a:noFill/>
        </p:spPr>
        <p:txBody>
          <a:bodyPr wrap="square">
            <a:spAutoFit/>
          </a:bodyPr>
          <a:lstStyle/>
          <a:p>
            <a:r>
              <a:rPr lang="en-US" dirty="0"/>
              <a:t>22.</a:t>
            </a:r>
          </a:p>
        </p:txBody>
      </p:sp>
    </p:spTree>
    <p:extLst>
      <p:ext uri="{BB962C8B-B14F-4D97-AF65-F5344CB8AC3E}">
        <p14:creationId xmlns:p14="http://schemas.microsoft.com/office/powerpoint/2010/main" val="138173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9"/>
          <p:cNvSpPr txBox="1">
            <a:spLocks noGrp="1"/>
          </p:cNvSpPr>
          <p:nvPr>
            <p:ph type="title"/>
          </p:nvPr>
        </p:nvSpPr>
        <p:spPr>
          <a:xfrm>
            <a:off x="2277580" y="51476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 Mining models </a:t>
            </a:r>
            <a:endParaRPr dirty="0"/>
          </a:p>
        </p:txBody>
      </p:sp>
      <p:graphicFrame>
        <p:nvGraphicFramePr>
          <p:cNvPr id="3" name="Table 2">
            <a:extLst>
              <a:ext uri="{FF2B5EF4-FFF2-40B4-BE49-F238E27FC236}">
                <a16:creationId xmlns:a16="http://schemas.microsoft.com/office/drawing/2014/main" id="{593D96D1-4582-5870-63F9-EEAD64E5452D}"/>
              </a:ext>
            </a:extLst>
          </p:cNvPr>
          <p:cNvGraphicFramePr>
            <a:graphicFrameLocks noGrp="1"/>
          </p:cNvGraphicFramePr>
          <p:nvPr>
            <p:extLst>
              <p:ext uri="{D42A27DB-BD31-4B8C-83A1-F6EECF244321}">
                <p14:modId xmlns:p14="http://schemas.microsoft.com/office/powerpoint/2010/main" val="2060785482"/>
              </p:ext>
            </p:extLst>
          </p:nvPr>
        </p:nvGraphicFramePr>
        <p:xfrm>
          <a:off x="1177871" y="1686624"/>
          <a:ext cx="6643608" cy="1259840"/>
        </p:xfrm>
        <a:graphic>
          <a:graphicData uri="http://schemas.openxmlformats.org/drawingml/2006/table">
            <a:tbl>
              <a:tblPr firstRow="1" bandRow="1">
                <a:tableStyleId>{85016E2E-41FC-404D-AC2A-DC731C7F9F41}</a:tableStyleId>
              </a:tblPr>
              <a:tblGrid>
                <a:gridCol w="1660902">
                  <a:extLst>
                    <a:ext uri="{9D8B030D-6E8A-4147-A177-3AD203B41FA5}">
                      <a16:colId xmlns:a16="http://schemas.microsoft.com/office/drawing/2014/main" val="397278629"/>
                    </a:ext>
                  </a:extLst>
                </a:gridCol>
                <a:gridCol w="1660902">
                  <a:extLst>
                    <a:ext uri="{9D8B030D-6E8A-4147-A177-3AD203B41FA5}">
                      <a16:colId xmlns:a16="http://schemas.microsoft.com/office/drawing/2014/main" val="1709938904"/>
                    </a:ext>
                  </a:extLst>
                </a:gridCol>
                <a:gridCol w="1660902">
                  <a:extLst>
                    <a:ext uri="{9D8B030D-6E8A-4147-A177-3AD203B41FA5}">
                      <a16:colId xmlns:a16="http://schemas.microsoft.com/office/drawing/2014/main" val="262855203"/>
                    </a:ext>
                  </a:extLst>
                </a:gridCol>
                <a:gridCol w="1660902">
                  <a:extLst>
                    <a:ext uri="{9D8B030D-6E8A-4147-A177-3AD203B41FA5}">
                      <a16:colId xmlns:a16="http://schemas.microsoft.com/office/drawing/2014/main" val="447965857"/>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Sensitivity</a:t>
                      </a:r>
                    </a:p>
                  </a:txBody>
                  <a:tcPr/>
                </a:tc>
                <a:tc>
                  <a:txBody>
                    <a:bodyPr/>
                    <a:lstStyle/>
                    <a:p>
                      <a:r>
                        <a:rPr lang="en-US" dirty="0"/>
                        <a:t>Specificity</a:t>
                      </a:r>
                    </a:p>
                  </a:txBody>
                  <a:tcPr/>
                </a:tc>
                <a:extLst>
                  <a:ext uri="{0D108BD9-81ED-4DB2-BD59-A6C34878D82A}">
                    <a16:rowId xmlns:a16="http://schemas.microsoft.com/office/drawing/2014/main" val="2016138057"/>
                  </a:ext>
                </a:extLst>
              </a:tr>
              <a:tr h="370840">
                <a:tc>
                  <a:txBody>
                    <a:bodyPr/>
                    <a:lstStyle/>
                    <a:p>
                      <a:r>
                        <a:rPr lang="en-US" dirty="0"/>
                        <a:t>Logistic Regression</a:t>
                      </a:r>
                    </a:p>
                  </a:txBody>
                  <a:tcPr/>
                </a:tc>
                <a:tc>
                  <a:txBody>
                    <a:bodyPr/>
                    <a:lstStyle/>
                    <a:p>
                      <a:r>
                        <a:rPr lang="en-US" dirty="0"/>
                        <a:t>0.525</a:t>
                      </a:r>
                    </a:p>
                  </a:txBody>
                  <a:tcPr/>
                </a:tc>
                <a:tc>
                  <a:txBody>
                    <a:bodyPr/>
                    <a:lstStyle/>
                    <a:p>
                      <a:r>
                        <a:rPr lang="en-US" dirty="0"/>
                        <a:t>0.494</a:t>
                      </a:r>
                    </a:p>
                  </a:txBody>
                  <a:tcPr/>
                </a:tc>
                <a:tc>
                  <a:txBody>
                    <a:bodyPr/>
                    <a:lstStyle/>
                    <a:p>
                      <a:r>
                        <a:rPr lang="en-US" dirty="0"/>
                        <a:t>0.591</a:t>
                      </a:r>
                    </a:p>
                  </a:txBody>
                  <a:tcPr/>
                </a:tc>
                <a:extLst>
                  <a:ext uri="{0D108BD9-81ED-4DB2-BD59-A6C34878D82A}">
                    <a16:rowId xmlns:a16="http://schemas.microsoft.com/office/drawing/2014/main" val="3101559985"/>
                  </a:ext>
                </a:extLst>
              </a:tr>
              <a:tr h="370840">
                <a:tc>
                  <a:txBody>
                    <a:bodyPr/>
                    <a:lstStyle/>
                    <a:p>
                      <a:r>
                        <a:rPr lang="en-US" dirty="0"/>
                        <a:t>Decision Tree</a:t>
                      </a:r>
                    </a:p>
                  </a:txBody>
                  <a:tcPr/>
                </a:tc>
                <a:tc>
                  <a:txBody>
                    <a:bodyPr/>
                    <a:lstStyle/>
                    <a:p>
                      <a:r>
                        <a:rPr lang="en-US" dirty="0"/>
                        <a:t>0.6202</a:t>
                      </a:r>
                    </a:p>
                  </a:txBody>
                  <a:tcPr/>
                </a:tc>
                <a:tc>
                  <a:txBody>
                    <a:bodyPr/>
                    <a:lstStyle/>
                    <a:p>
                      <a:r>
                        <a:rPr lang="en-US" dirty="0"/>
                        <a:t>0.7472</a:t>
                      </a:r>
                    </a:p>
                  </a:txBody>
                  <a:tcPr/>
                </a:tc>
                <a:tc>
                  <a:txBody>
                    <a:bodyPr/>
                    <a:lstStyle/>
                    <a:p>
                      <a:r>
                        <a:rPr lang="en-US" dirty="0"/>
                        <a:t>0.3475</a:t>
                      </a:r>
                    </a:p>
                  </a:txBody>
                  <a:tcPr/>
                </a:tc>
                <a:extLst>
                  <a:ext uri="{0D108BD9-81ED-4DB2-BD59-A6C34878D82A}">
                    <a16:rowId xmlns:a16="http://schemas.microsoft.com/office/drawing/2014/main" val="3951842844"/>
                  </a:ext>
                </a:extLst>
              </a:tr>
            </a:tbl>
          </a:graphicData>
        </a:graphic>
      </p:graphicFrame>
      <p:sp>
        <p:nvSpPr>
          <p:cNvPr id="4" name="TextBox 3">
            <a:extLst>
              <a:ext uri="{FF2B5EF4-FFF2-40B4-BE49-F238E27FC236}">
                <a16:creationId xmlns:a16="http://schemas.microsoft.com/office/drawing/2014/main" id="{EE553E3B-81E0-6EE2-8A3C-AD4EEB5E619F}"/>
              </a:ext>
            </a:extLst>
          </p:cNvPr>
          <p:cNvSpPr txBox="1"/>
          <p:nvPr/>
        </p:nvSpPr>
        <p:spPr>
          <a:xfrm>
            <a:off x="2030278" y="3184902"/>
            <a:ext cx="5215180" cy="1600438"/>
          </a:xfrm>
          <a:prstGeom prst="rect">
            <a:avLst/>
          </a:prstGeom>
          <a:noFill/>
        </p:spPr>
        <p:txBody>
          <a:bodyPr wrap="square" rtlCol="0">
            <a:spAutoFit/>
          </a:bodyPr>
          <a:lstStyle/>
          <a:p>
            <a:r>
              <a:rPr lang="en-US" dirty="0"/>
              <a:t>Logistic Regression Model Error Rate: 0.5</a:t>
            </a:r>
          </a:p>
          <a:p>
            <a:r>
              <a:rPr lang="en-US" dirty="0"/>
              <a:t> </a:t>
            </a:r>
          </a:p>
          <a:p>
            <a:r>
              <a:rPr lang="en-US" dirty="0"/>
              <a:t>Decision Tree Model Error Rate: 0.4 </a:t>
            </a:r>
          </a:p>
          <a:p>
            <a:endParaRPr lang="en-US" dirty="0"/>
          </a:p>
          <a:p>
            <a:r>
              <a:rPr lang="en-US" dirty="0"/>
              <a:t>Logistic Regression Model Accuracy Rate: 0.5</a:t>
            </a:r>
          </a:p>
          <a:p>
            <a:endParaRPr lang="en-US" dirty="0"/>
          </a:p>
          <a:p>
            <a:r>
              <a:rPr lang="en-US" dirty="0"/>
              <a:t>Decision Tree Model Accuracy Rate: 0.6 </a:t>
            </a:r>
          </a:p>
        </p:txBody>
      </p:sp>
      <p:sp>
        <p:nvSpPr>
          <p:cNvPr id="6" name="TextBox 5">
            <a:extLst>
              <a:ext uri="{FF2B5EF4-FFF2-40B4-BE49-F238E27FC236}">
                <a16:creationId xmlns:a16="http://schemas.microsoft.com/office/drawing/2014/main" id="{37E3329F-3034-95AD-6B69-BB1532B49D71}"/>
              </a:ext>
            </a:extLst>
          </p:cNvPr>
          <p:cNvSpPr txBox="1"/>
          <p:nvPr/>
        </p:nvSpPr>
        <p:spPr>
          <a:xfrm>
            <a:off x="317715" y="360878"/>
            <a:ext cx="4990454" cy="307777"/>
          </a:xfrm>
          <a:prstGeom prst="rect">
            <a:avLst/>
          </a:prstGeom>
          <a:noFill/>
        </p:spPr>
        <p:txBody>
          <a:bodyPr wrap="square">
            <a:spAutoFit/>
          </a:bodyPr>
          <a:lstStyle/>
          <a:p>
            <a:r>
              <a:rPr lang="en-US" dirty="0"/>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3" name="TextBox 2">
            <a:extLst>
              <a:ext uri="{FF2B5EF4-FFF2-40B4-BE49-F238E27FC236}">
                <a16:creationId xmlns:a16="http://schemas.microsoft.com/office/drawing/2014/main" id="{F70A9C55-9FB0-D495-F9C6-9B1DD76C9D33}"/>
              </a:ext>
            </a:extLst>
          </p:cNvPr>
          <p:cNvSpPr txBox="1"/>
          <p:nvPr/>
        </p:nvSpPr>
        <p:spPr>
          <a:xfrm>
            <a:off x="2719953" y="224725"/>
            <a:ext cx="3890074" cy="523220"/>
          </a:xfrm>
          <a:prstGeom prst="rect">
            <a:avLst/>
          </a:prstGeom>
          <a:noFill/>
        </p:spPr>
        <p:txBody>
          <a:bodyPr wrap="square" rtlCol="0">
            <a:spAutoFit/>
          </a:bodyPr>
          <a:lstStyle/>
          <a:p>
            <a:r>
              <a:rPr lang="en-US" dirty="0"/>
              <a:t>Logistic Regression Lift Curve</a:t>
            </a:r>
          </a:p>
          <a:p>
            <a:r>
              <a:rPr lang="en-US" dirty="0"/>
              <a:t>  </a:t>
            </a:r>
          </a:p>
        </p:txBody>
      </p:sp>
      <p:sp>
        <p:nvSpPr>
          <p:cNvPr id="5" name="TextBox 4">
            <a:extLst>
              <a:ext uri="{FF2B5EF4-FFF2-40B4-BE49-F238E27FC236}">
                <a16:creationId xmlns:a16="http://schemas.microsoft.com/office/drawing/2014/main" id="{10DA289A-5967-2C2F-E9F8-F777D7AFC987}"/>
              </a:ext>
            </a:extLst>
          </p:cNvPr>
          <p:cNvSpPr txBox="1"/>
          <p:nvPr/>
        </p:nvSpPr>
        <p:spPr>
          <a:xfrm>
            <a:off x="224725" y="70836"/>
            <a:ext cx="4572000" cy="307777"/>
          </a:xfrm>
          <a:prstGeom prst="rect">
            <a:avLst/>
          </a:prstGeom>
          <a:noFill/>
        </p:spPr>
        <p:txBody>
          <a:bodyPr wrap="square">
            <a:spAutoFit/>
          </a:bodyPr>
          <a:lstStyle/>
          <a:p>
            <a:r>
              <a:rPr lang="en-US" dirty="0"/>
              <a:t>24.</a:t>
            </a:r>
          </a:p>
        </p:txBody>
      </p:sp>
      <p:pic>
        <p:nvPicPr>
          <p:cNvPr id="6" name="Picture 5">
            <a:extLst>
              <a:ext uri="{FF2B5EF4-FFF2-40B4-BE49-F238E27FC236}">
                <a16:creationId xmlns:a16="http://schemas.microsoft.com/office/drawing/2014/main" id="{D900CA70-10BC-09A2-7809-A2E16C72C773}"/>
              </a:ext>
            </a:extLst>
          </p:cNvPr>
          <p:cNvPicPr>
            <a:picLocks noChangeAspect="1"/>
          </p:cNvPicPr>
          <p:nvPr/>
        </p:nvPicPr>
        <p:blipFill>
          <a:blip r:embed="rId3"/>
          <a:stretch>
            <a:fillRect/>
          </a:stretch>
        </p:blipFill>
        <p:spPr>
          <a:xfrm>
            <a:off x="1234904" y="619932"/>
            <a:ext cx="6560744" cy="4138745"/>
          </a:xfrm>
          <a:prstGeom prst="rect">
            <a:avLst/>
          </a:prstGeom>
        </p:spPr>
      </p:pic>
    </p:spTree>
    <p:extLst>
      <p:ext uri="{BB962C8B-B14F-4D97-AF65-F5344CB8AC3E}">
        <p14:creationId xmlns:p14="http://schemas.microsoft.com/office/powerpoint/2010/main" val="1406897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2" name="Picture 1">
            <a:extLst>
              <a:ext uri="{FF2B5EF4-FFF2-40B4-BE49-F238E27FC236}">
                <a16:creationId xmlns:a16="http://schemas.microsoft.com/office/drawing/2014/main" id="{2E50266F-ED5A-2D1C-5382-46E4D2295DA1}"/>
              </a:ext>
            </a:extLst>
          </p:cNvPr>
          <p:cNvPicPr>
            <a:picLocks noChangeAspect="1"/>
          </p:cNvPicPr>
          <p:nvPr/>
        </p:nvPicPr>
        <p:blipFill>
          <a:blip r:embed="rId3"/>
          <a:stretch>
            <a:fillRect/>
          </a:stretch>
        </p:blipFill>
        <p:spPr>
          <a:xfrm>
            <a:off x="685800" y="428209"/>
            <a:ext cx="7772400" cy="4715291"/>
          </a:xfrm>
          <a:prstGeom prst="rect">
            <a:avLst/>
          </a:prstGeom>
        </p:spPr>
      </p:pic>
      <p:sp>
        <p:nvSpPr>
          <p:cNvPr id="3" name="TextBox 2">
            <a:extLst>
              <a:ext uri="{FF2B5EF4-FFF2-40B4-BE49-F238E27FC236}">
                <a16:creationId xmlns:a16="http://schemas.microsoft.com/office/drawing/2014/main" id="{57360994-24CD-1B8C-5AC4-47F1D84E16E2}"/>
              </a:ext>
            </a:extLst>
          </p:cNvPr>
          <p:cNvSpPr txBox="1"/>
          <p:nvPr/>
        </p:nvSpPr>
        <p:spPr>
          <a:xfrm>
            <a:off x="2735451" y="120432"/>
            <a:ext cx="3301139" cy="307777"/>
          </a:xfrm>
          <a:prstGeom prst="rect">
            <a:avLst/>
          </a:prstGeom>
          <a:noFill/>
        </p:spPr>
        <p:txBody>
          <a:bodyPr wrap="square" rtlCol="0">
            <a:spAutoFit/>
          </a:bodyPr>
          <a:lstStyle/>
          <a:p>
            <a:r>
              <a:rPr lang="en-US" dirty="0"/>
              <a:t>Decision Tree Lift Curve</a:t>
            </a:r>
          </a:p>
        </p:txBody>
      </p:sp>
      <p:sp>
        <p:nvSpPr>
          <p:cNvPr id="5" name="TextBox 4">
            <a:extLst>
              <a:ext uri="{FF2B5EF4-FFF2-40B4-BE49-F238E27FC236}">
                <a16:creationId xmlns:a16="http://schemas.microsoft.com/office/drawing/2014/main" id="{FBA22F2A-188A-FBE7-B46F-1B991B8BC974}"/>
              </a:ext>
            </a:extLst>
          </p:cNvPr>
          <p:cNvSpPr txBox="1"/>
          <p:nvPr/>
        </p:nvSpPr>
        <p:spPr>
          <a:xfrm>
            <a:off x="178230" y="0"/>
            <a:ext cx="4572000" cy="307777"/>
          </a:xfrm>
          <a:prstGeom prst="rect">
            <a:avLst/>
          </a:prstGeom>
          <a:noFill/>
        </p:spPr>
        <p:txBody>
          <a:bodyPr wrap="square">
            <a:spAutoFit/>
          </a:bodyPr>
          <a:lstStyle/>
          <a:p>
            <a:r>
              <a:rPr lang="en-US" dirty="0"/>
              <a:t>25.</a:t>
            </a:r>
          </a:p>
        </p:txBody>
      </p:sp>
    </p:spTree>
    <p:extLst>
      <p:ext uri="{BB962C8B-B14F-4D97-AF65-F5344CB8AC3E}">
        <p14:creationId xmlns:p14="http://schemas.microsoft.com/office/powerpoint/2010/main" val="1194908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4" name="Picture 3">
            <a:extLst>
              <a:ext uri="{FF2B5EF4-FFF2-40B4-BE49-F238E27FC236}">
                <a16:creationId xmlns:a16="http://schemas.microsoft.com/office/drawing/2014/main" id="{56D458D0-6504-DF4F-DE45-74E7271CD06B}"/>
              </a:ext>
            </a:extLst>
          </p:cNvPr>
          <p:cNvPicPr>
            <a:picLocks noChangeAspect="1"/>
          </p:cNvPicPr>
          <p:nvPr/>
        </p:nvPicPr>
        <p:blipFill>
          <a:blip r:embed="rId3"/>
          <a:stretch>
            <a:fillRect/>
          </a:stretch>
        </p:blipFill>
        <p:spPr>
          <a:xfrm>
            <a:off x="800432" y="748823"/>
            <a:ext cx="7402046" cy="4082598"/>
          </a:xfrm>
          <a:prstGeom prst="rect">
            <a:avLst/>
          </a:prstGeom>
        </p:spPr>
      </p:pic>
      <p:sp>
        <p:nvSpPr>
          <p:cNvPr id="5" name="TextBox 4">
            <a:extLst>
              <a:ext uri="{FF2B5EF4-FFF2-40B4-BE49-F238E27FC236}">
                <a16:creationId xmlns:a16="http://schemas.microsoft.com/office/drawing/2014/main" id="{88CD9F29-32E9-2B1A-F48D-E0642CD342EE}"/>
              </a:ext>
            </a:extLst>
          </p:cNvPr>
          <p:cNvSpPr txBox="1"/>
          <p:nvPr/>
        </p:nvSpPr>
        <p:spPr>
          <a:xfrm>
            <a:off x="2812942" y="247973"/>
            <a:ext cx="4076055" cy="307777"/>
          </a:xfrm>
          <a:prstGeom prst="rect">
            <a:avLst/>
          </a:prstGeom>
          <a:noFill/>
        </p:spPr>
        <p:txBody>
          <a:bodyPr wrap="square" rtlCol="0">
            <a:spAutoFit/>
          </a:bodyPr>
          <a:lstStyle/>
          <a:p>
            <a:r>
              <a:rPr lang="en-US" dirty="0"/>
              <a:t>Importance graph </a:t>
            </a:r>
          </a:p>
        </p:txBody>
      </p:sp>
      <p:sp>
        <p:nvSpPr>
          <p:cNvPr id="7" name="TextBox 6">
            <a:extLst>
              <a:ext uri="{FF2B5EF4-FFF2-40B4-BE49-F238E27FC236}">
                <a16:creationId xmlns:a16="http://schemas.microsoft.com/office/drawing/2014/main" id="{E0B4031A-8F31-5FC5-A876-BD26A5393CE8}"/>
              </a:ext>
            </a:extLst>
          </p:cNvPr>
          <p:cNvSpPr txBox="1"/>
          <p:nvPr/>
        </p:nvSpPr>
        <p:spPr>
          <a:xfrm>
            <a:off x="139484" y="4302"/>
            <a:ext cx="4572000" cy="307777"/>
          </a:xfrm>
          <a:prstGeom prst="rect">
            <a:avLst/>
          </a:prstGeom>
          <a:noFill/>
        </p:spPr>
        <p:txBody>
          <a:bodyPr wrap="square">
            <a:spAutoFit/>
          </a:bodyPr>
          <a:lstStyle/>
          <a:p>
            <a:r>
              <a:rPr lang="en-US" dirty="0"/>
              <a:t>26.</a:t>
            </a:r>
          </a:p>
        </p:txBody>
      </p:sp>
    </p:spTree>
    <p:extLst>
      <p:ext uri="{BB962C8B-B14F-4D97-AF65-F5344CB8AC3E}">
        <p14:creationId xmlns:p14="http://schemas.microsoft.com/office/powerpoint/2010/main" val="3809046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22" name="TextBox 21">
            <a:extLst>
              <a:ext uri="{FF2B5EF4-FFF2-40B4-BE49-F238E27FC236}">
                <a16:creationId xmlns:a16="http://schemas.microsoft.com/office/drawing/2014/main" id="{E8762634-4EF2-FC58-1687-7B31F3CF89F9}"/>
              </a:ext>
            </a:extLst>
          </p:cNvPr>
          <p:cNvSpPr txBox="1"/>
          <p:nvPr/>
        </p:nvSpPr>
        <p:spPr>
          <a:xfrm>
            <a:off x="2801319" y="195687"/>
            <a:ext cx="3541362" cy="400110"/>
          </a:xfrm>
          <a:prstGeom prst="rect">
            <a:avLst/>
          </a:prstGeom>
          <a:noFill/>
        </p:spPr>
        <p:txBody>
          <a:bodyPr wrap="square" rtlCol="0">
            <a:spAutoFit/>
          </a:bodyPr>
          <a:lstStyle/>
          <a:p>
            <a:r>
              <a:rPr lang="en-US" sz="2000" dirty="0">
                <a:solidFill>
                  <a:schemeClr val="bg1"/>
                </a:solidFill>
              </a:rPr>
              <a:t>Conclusions: </a:t>
            </a:r>
          </a:p>
        </p:txBody>
      </p:sp>
      <p:sp>
        <p:nvSpPr>
          <p:cNvPr id="30" name="TextBox 29">
            <a:extLst>
              <a:ext uri="{FF2B5EF4-FFF2-40B4-BE49-F238E27FC236}">
                <a16:creationId xmlns:a16="http://schemas.microsoft.com/office/drawing/2014/main" id="{5033273A-0E2E-34E3-EA16-1D84485C67CD}"/>
              </a:ext>
            </a:extLst>
          </p:cNvPr>
          <p:cNvSpPr txBox="1"/>
          <p:nvPr/>
        </p:nvSpPr>
        <p:spPr>
          <a:xfrm>
            <a:off x="364210" y="1208868"/>
            <a:ext cx="7942882" cy="307777"/>
          </a:xfrm>
          <a:prstGeom prst="rect">
            <a:avLst/>
          </a:prstGeom>
          <a:noFill/>
        </p:spPr>
        <p:txBody>
          <a:bodyPr wrap="square" rtlCol="0">
            <a:spAutoFit/>
          </a:bodyPr>
          <a:lstStyle/>
          <a:p>
            <a:r>
              <a:rPr lang="en-US" dirty="0">
                <a:solidFill>
                  <a:schemeClr val="bg1"/>
                </a:solidFill>
              </a:rPr>
              <a:t>- We can conclude that users are most affected by Price. </a:t>
            </a:r>
          </a:p>
        </p:txBody>
      </p:sp>
      <p:sp>
        <p:nvSpPr>
          <p:cNvPr id="4" name="TextBox 3">
            <a:extLst>
              <a:ext uri="{FF2B5EF4-FFF2-40B4-BE49-F238E27FC236}">
                <a16:creationId xmlns:a16="http://schemas.microsoft.com/office/drawing/2014/main" id="{1C5450F0-4463-4C1C-1F70-EBE35EF0E31B}"/>
              </a:ext>
            </a:extLst>
          </p:cNvPr>
          <p:cNvSpPr txBox="1"/>
          <p:nvPr/>
        </p:nvSpPr>
        <p:spPr>
          <a:xfrm>
            <a:off x="271220" y="1735811"/>
            <a:ext cx="8872780" cy="2462213"/>
          </a:xfrm>
          <a:prstGeom prst="rect">
            <a:avLst/>
          </a:prstGeom>
          <a:noFill/>
        </p:spPr>
        <p:txBody>
          <a:bodyPr wrap="square" rtlCol="0">
            <a:spAutoFit/>
          </a:bodyPr>
          <a:lstStyle/>
          <a:p>
            <a:r>
              <a:rPr lang="en-US" dirty="0">
                <a:solidFill>
                  <a:schemeClr val="bg1"/>
                </a:solidFill>
              </a:rPr>
              <a:t>Recommendations:</a:t>
            </a:r>
          </a:p>
          <a:p>
            <a:r>
              <a:rPr lang="en-US" dirty="0">
                <a:solidFill>
                  <a:schemeClr val="bg1"/>
                </a:solidFill>
              </a:rPr>
              <a:t>- we would recommend by the results that the website should have a discount to the most frequent users. </a:t>
            </a:r>
          </a:p>
          <a:p>
            <a:endParaRPr lang="en-US" dirty="0">
              <a:solidFill>
                <a:schemeClr val="bg1"/>
              </a:solidFill>
            </a:endParaRPr>
          </a:p>
          <a:p>
            <a:r>
              <a:rPr lang="en-US" dirty="0">
                <a:solidFill>
                  <a:schemeClr val="bg1"/>
                </a:solidFill>
              </a:rPr>
              <a:t>- Having performed a customer lifetime value will give us how much we can expect from retaining a specific group of customers </a:t>
            </a:r>
          </a:p>
          <a:p>
            <a:endParaRPr lang="en-US" dirty="0">
              <a:solidFill>
                <a:schemeClr val="bg1"/>
              </a:solidFill>
            </a:endParaRPr>
          </a:p>
          <a:p>
            <a:r>
              <a:rPr lang="en-US" dirty="0">
                <a:solidFill>
                  <a:schemeClr val="bg1"/>
                </a:solidFill>
              </a:rPr>
              <a:t>- We have segmented the time of the day, using that we can see and understand at what point of the day the consumer visits the website and adds something in their cart.</a:t>
            </a:r>
          </a:p>
          <a:p>
            <a:r>
              <a:rPr lang="en-US" dirty="0">
                <a:solidFill>
                  <a:schemeClr val="bg1"/>
                </a:solidFill>
              </a:rPr>
              <a:t> </a:t>
            </a:r>
          </a:p>
          <a:p>
            <a:r>
              <a:rPr lang="en-US" dirty="0">
                <a:solidFill>
                  <a:schemeClr val="bg1"/>
                </a:solidFill>
              </a:rPr>
              <a:t>-There are a lot of unknown brands so clustering them and having to group them would make it much easier to analyze.</a:t>
            </a:r>
            <a:endParaRPr lang="en-US" dirty="0"/>
          </a:p>
        </p:txBody>
      </p:sp>
      <p:sp>
        <p:nvSpPr>
          <p:cNvPr id="6" name="TextBox 5">
            <a:extLst>
              <a:ext uri="{FF2B5EF4-FFF2-40B4-BE49-F238E27FC236}">
                <a16:creationId xmlns:a16="http://schemas.microsoft.com/office/drawing/2014/main" id="{C9E39ACC-3E61-47E6-0EE5-C692DC93EB1C}"/>
              </a:ext>
            </a:extLst>
          </p:cNvPr>
          <p:cNvSpPr txBox="1"/>
          <p:nvPr/>
        </p:nvSpPr>
        <p:spPr>
          <a:xfrm>
            <a:off x="271220" y="195687"/>
            <a:ext cx="4583622" cy="307777"/>
          </a:xfrm>
          <a:prstGeom prst="rect">
            <a:avLst/>
          </a:prstGeom>
          <a:noFill/>
        </p:spPr>
        <p:txBody>
          <a:bodyPr wrap="square">
            <a:spAutoFit/>
          </a:bodyPr>
          <a:lstStyle/>
          <a:p>
            <a:r>
              <a:rPr lang="en-US" dirty="0"/>
              <a:t>27.</a:t>
            </a:r>
          </a:p>
        </p:txBody>
      </p:sp>
    </p:spTree>
    <p:extLst>
      <p:ext uri="{BB962C8B-B14F-4D97-AF65-F5344CB8AC3E}">
        <p14:creationId xmlns:p14="http://schemas.microsoft.com/office/powerpoint/2010/main" val="3778853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cxnSp>
        <p:nvCxnSpPr>
          <p:cNvPr id="587" name="Google Shape;587;p46"/>
          <p:cNvCxnSpPr/>
          <p:nvPr/>
        </p:nvCxnSpPr>
        <p:spPr>
          <a:xfrm>
            <a:off x="1294575" y="-48725"/>
            <a:ext cx="0" cy="5289600"/>
          </a:xfrm>
          <a:prstGeom prst="straightConnector1">
            <a:avLst/>
          </a:prstGeom>
          <a:noFill/>
          <a:ln w="9525" cap="flat" cmpd="sng">
            <a:solidFill>
              <a:schemeClr val="accent2"/>
            </a:solidFill>
            <a:prstDash val="solid"/>
            <a:round/>
            <a:headEnd type="none" w="med" len="med"/>
            <a:tailEnd type="none" w="med" len="med"/>
          </a:ln>
        </p:spPr>
      </p:cxnSp>
      <p:cxnSp>
        <p:nvCxnSpPr>
          <p:cNvPr id="588" name="Google Shape;588;p46"/>
          <p:cNvCxnSpPr/>
          <p:nvPr/>
        </p:nvCxnSpPr>
        <p:spPr>
          <a:xfrm>
            <a:off x="7853225" y="-48725"/>
            <a:ext cx="0" cy="5289600"/>
          </a:xfrm>
          <a:prstGeom prst="straightConnector1">
            <a:avLst/>
          </a:prstGeom>
          <a:noFill/>
          <a:ln w="9525" cap="flat" cmpd="sng">
            <a:solidFill>
              <a:schemeClr val="accent3"/>
            </a:solidFill>
            <a:prstDash val="solid"/>
            <a:round/>
            <a:headEnd type="none" w="med" len="med"/>
            <a:tailEnd type="none" w="med" len="med"/>
          </a:ln>
        </p:spPr>
      </p:cxnSp>
      <p:sp>
        <p:nvSpPr>
          <p:cNvPr id="589" name="Google Shape;589;p46"/>
          <p:cNvSpPr txBox="1">
            <a:spLocks noGrp="1"/>
          </p:cNvSpPr>
          <p:nvPr>
            <p:ph type="title"/>
          </p:nvPr>
        </p:nvSpPr>
        <p:spPr>
          <a:xfrm>
            <a:off x="2263851" y="2731718"/>
            <a:ext cx="44481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Thanks!</a:t>
            </a:r>
            <a:endParaRPr dirty="0"/>
          </a:p>
        </p:txBody>
      </p:sp>
      <p:sp>
        <p:nvSpPr>
          <p:cNvPr id="591" name="Google Shape;591;p46"/>
          <p:cNvSpPr txBox="1"/>
          <p:nvPr/>
        </p:nvSpPr>
        <p:spPr>
          <a:xfrm>
            <a:off x="2496150" y="4174050"/>
            <a:ext cx="41517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200" dirty="0">
              <a:solidFill>
                <a:schemeClr val="lt1"/>
              </a:solidFill>
              <a:latin typeface="DM Sans Medium"/>
              <a:ea typeface="DM Sans Medium"/>
              <a:cs typeface="DM Sans Medium"/>
              <a:sym typeface="DM Sans Medium"/>
            </a:endParaRPr>
          </a:p>
        </p:txBody>
      </p:sp>
      <p:pic>
        <p:nvPicPr>
          <p:cNvPr id="592" name="Google Shape;592;p46"/>
          <p:cNvPicPr preferRelativeResize="0">
            <a:picLocks noGrp="1"/>
          </p:cNvPicPr>
          <p:nvPr>
            <p:ph type="pic" idx="2"/>
          </p:nvPr>
        </p:nvPicPr>
        <p:blipFill rotWithShape="1">
          <a:blip r:embed="rId3">
            <a:alphaModFix/>
          </a:blip>
          <a:srcRect l="9008" r="9017"/>
          <a:stretch/>
        </p:blipFill>
        <p:spPr>
          <a:xfrm>
            <a:off x="322441" y="144651"/>
            <a:ext cx="1989900" cy="3636900"/>
          </a:xfrm>
          <a:prstGeom prst="roundRect">
            <a:avLst>
              <a:gd name="adj" fmla="val 16667"/>
            </a:avLst>
          </a:prstGeom>
        </p:spPr>
      </p:pic>
      <p:pic>
        <p:nvPicPr>
          <p:cNvPr id="593" name="Google Shape;593;p46"/>
          <p:cNvPicPr preferRelativeResize="0">
            <a:picLocks noGrp="1"/>
          </p:cNvPicPr>
          <p:nvPr>
            <p:ph type="pic" idx="3"/>
          </p:nvPr>
        </p:nvPicPr>
        <p:blipFill rotWithShape="1">
          <a:blip r:embed="rId4">
            <a:alphaModFix/>
          </a:blip>
          <a:srcRect l="9008" r="9017"/>
          <a:stretch/>
        </p:blipFill>
        <p:spPr>
          <a:xfrm>
            <a:off x="7251270" y="1963101"/>
            <a:ext cx="1646265" cy="2811310"/>
          </a:xfrm>
          <a:prstGeom prst="roundRect">
            <a:avLst>
              <a:gd name="adj" fmla="val 16667"/>
            </a:avLst>
          </a:prstGeom>
        </p:spPr>
      </p:pic>
      <p:sp>
        <p:nvSpPr>
          <p:cNvPr id="608" name="Google Shape;608;p46"/>
          <p:cNvSpPr/>
          <p:nvPr/>
        </p:nvSpPr>
        <p:spPr>
          <a:xfrm>
            <a:off x="1237425" y="45468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6"/>
          <p:cNvSpPr/>
          <p:nvPr/>
        </p:nvSpPr>
        <p:spPr>
          <a:xfrm>
            <a:off x="7796075" y="482350"/>
            <a:ext cx="114300" cy="114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a:extLst>
              <a:ext uri="{FF2B5EF4-FFF2-40B4-BE49-F238E27FC236}">
                <a16:creationId xmlns:a16="http://schemas.microsoft.com/office/drawing/2014/main" id="{9299939D-F249-08DB-5036-0D431379F6FF}"/>
              </a:ext>
            </a:extLst>
          </p:cNvPr>
          <p:cNvSpPr/>
          <p:nvPr/>
        </p:nvSpPr>
        <p:spPr>
          <a:xfrm>
            <a:off x="2524725" y="3624305"/>
            <a:ext cx="4151699" cy="5889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DADFAD-F41E-3AB5-4F47-7378F62F17FC}"/>
              </a:ext>
            </a:extLst>
          </p:cNvPr>
          <p:cNvSpPr txBox="1"/>
          <p:nvPr/>
        </p:nvSpPr>
        <p:spPr>
          <a:xfrm>
            <a:off x="3136660" y="706752"/>
            <a:ext cx="2742585" cy="646331"/>
          </a:xfrm>
          <a:prstGeom prst="rect">
            <a:avLst/>
          </a:prstGeom>
          <a:noFill/>
        </p:spPr>
        <p:txBody>
          <a:bodyPr wrap="square" rtlCol="0">
            <a:spAutoFit/>
          </a:bodyPr>
          <a:lstStyle/>
          <a:p>
            <a:r>
              <a:rPr lang="en-US" sz="3600" dirty="0"/>
              <a:t>Questions?</a:t>
            </a:r>
          </a:p>
        </p:txBody>
      </p:sp>
    </p:spTree>
  </p:cSld>
  <p:clrMapOvr>
    <a:masterClrMapping/>
  </p:clrMapOvr>
</p:sld>
</file>

<file path=ppt/theme/theme1.xml><?xml version="1.0" encoding="utf-8"?>
<a:theme xmlns:a="http://schemas.openxmlformats.org/drawingml/2006/main" name="Cosmetic Products Brand Pitch Deck by Slidesgo">
  <a:themeElements>
    <a:clrScheme name="Simple Light">
      <a:dk1>
        <a:srgbClr val="F9F5EA"/>
      </a:dk1>
      <a:lt1>
        <a:srgbClr val="713115"/>
      </a:lt1>
      <a:dk2>
        <a:srgbClr val="F8DFE1"/>
      </a:dk2>
      <a:lt2>
        <a:srgbClr val="EFC3AE"/>
      </a:lt2>
      <a:accent1>
        <a:srgbClr val="E7B39E"/>
      </a:accent1>
      <a:accent2>
        <a:srgbClr val="B36E4D"/>
      </a:accent2>
      <a:accent3>
        <a:srgbClr val="7F4028"/>
      </a:accent3>
      <a:accent4>
        <a:srgbClr val="4C1C0C"/>
      </a:accent4>
      <a:accent5>
        <a:srgbClr val="FFFFFF"/>
      </a:accent5>
      <a:accent6>
        <a:srgbClr val="FFFFFF"/>
      </a:accent6>
      <a:hlink>
        <a:srgbClr val="71311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2592</TotalTime>
  <Words>976</Words>
  <Application>Microsoft Office PowerPoint</Application>
  <PresentationFormat>On-screen Show (16:9)</PresentationFormat>
  <Paragraphs>167</Paragraphs>
  <Slides>28</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Anaheim</vt:lpstr>
      <vt:lpstr>Arial</vt:lpstr>
      <vt:lpstr>Big Caslon Medium</vt:lpstr>
      <vt:lpstr>Cochin</vt:lpstr>
      <vt:lpstr>Della Respira</vt:lpstr>
      <vt:lpstr>DM Sans</vt:lpstr>
      <vt:lpstr>DM Sans Medium</vt:lpstr>
      <vt:lpstr>Montserrat</vt:lpstr>
      <vt:lpstr>Nunito Light</vt:lpstr>
      <vt:lpstr>Raleway</vt:lpstr>
      <vt:lpstr>Cosmetic Products Brand Pitch Deck by Slidesgo</vt:lpstr>
      <vt:lpstr>E-Commerce  Cosmetics Store</vt:lpstr>
      <vt:lpstr>Table of contents</vt:lpstr>
      <vt:lpstr>Introduction</vt:lpstr>
      <vt:lpstr>About E- Commerce website</vt:lpstr>
      <vt:lpstr>About our Data.</vt:lpstr>
      <vt:lpstr>PowerPoint Presentation</vt:lpstr>
      <vt:lpstr>Understanding the top factors that influence a customer to keep something in their cart.   </vt:lpstr>
      <vt:lpstr>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Creating new data variables: </vt:lpstr>
      <vt:lpstr>PowerPoint Presentation</vt:lpstr>
      <vt:lpstr>PowerPoint Presentation</vt:lpstr>
      <vt:lpstr>PowerPoint Presentation</vt:lpstr>
      <vt:lpstr>Data Mining models </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Cosmetics Store</dc:title>
  <dc:creator>Trilokdhanekula</dc:creator>
  <cp:lastModifiedBy>Trilok Dhanekula</cp:lastModifiedBy>
  <cp:revision>4</cp:revision>
  <dcterms:modified xsi:type="dcterms:W3CDTF">2023-12-16T04:42:32Z</dcterms:modified>
</cp:coreProperties>
</file>